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1430000" cy="7924800"/>
  <p:notesSz cx="6858000" cy="9144000"/>
  <p:embeddedFontLs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2" Target="../media/image5.png" Type="http://schemas.openxmlformats.org/officeDocument/2006/relationships/image"/><Relationship Id="rId3" Target="../media/image2.pn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2.jpeg" Type="http://schemas.openxmlformats.org/officeDocument/2006/relationships/image"/><Relationship Id="rId5" Target="../media/image13.jpeg" Type="http://schemas.openxmlformats.org/officeDocument/2006/relationships/image"/><Relationship Id="rId6" Target="../media/image14.jpeg" Type="http://schemas.openxmlformats.org/officeDocument/2006/relationships/image"/><Relationship Id="rId7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743207"/>
            <a:ext cx="11430000" cy="6438643"/>
            <a:chOff x="0" y="0"/>
            <a:chExt cx="11430000" cy="6438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2025">
                <a:alpha val="89804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743207"/>
            <a:ext cx="4286250" cy="6438643"/>
            <a:chOff x="0" y="0"/>
            <a:chExt cx="5715000" cy="85848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4" t="-3" r="-7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80245" y="6669024"/>
            <a:ext cx="1754505" cy="419100"/>
            <a:chOff x="0" y="0"/>
            <a:chExt cx="2339340" cy="55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886325" y="1889855"/>
            <a:ext cx="6157617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9"/>
              </a:lnSpc>
            </a:pPr>
            <a:r>
              <a:rPr lang="en-US" b="true" sz="3375" spc="6">
                <a:solidFill>
                  <a:srgbClr val="F0F4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Causal Impact of Micro-Irrigation on Groundwater Depletion in India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19199" y="4112085"/>
            <a:ext cx="4591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1687" spc="3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86325" y="4293060"/>
            <a:ext cx="362261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spc="3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1687" spc="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7" spc="3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Causal</a:t>
            </a:r>
            <a:r>
              <a:rPr lang="en-US" sz="1687" spc="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7" spc="3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Machine</a:t>
            </a:r>
            <a:r>
              <a:rPr lang="en-US" sz="1687" spc="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7" spc="3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Learning</a:t>
            </a:r>
            <a:r>
              <a:rPr lang="en-US" sz="1687" spc="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687" spc="3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Approach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86325" y="4686033"/>
            <a:ext cx="3373403" cy="131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Presented by: Senior Data Scientist</a:t>
            </a:r>
          </a:p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Institution: Research Institute of Technology Date: October 26, 2023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48" y="151"/>
            <a:ext cx="11432248" cy="7924800"/>
            <a:chOff x="0" y="0"/>
            <a:chExt cx="15242997" cy="1056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3048" cy="10566400"/>
            </a:xfrm>
            <a:custGeom>
              <a:avLst/>
              <a:gdLst/>
              <a:ahLst/>
              <a:cxnLst/>
              <a:rect r="r" b="b" t="t" l="l"/>
              <a:pathLst>
                <a:path h="10566400" w="15243048">
                  <a:moveTo>
                    <a:pt x="0" y="0"/>
                  </a:moveTo>
                  <a:lnTo>
                    <a:pt x="15243048" y="0"/>
                  </a:lnTo>
                  <a:lnTo>
                    <a:pt x="15243048" y="10566400"/>
                  </a:lnTo>
                  <a:lnTo>
                    <a:pt x="0" y="1056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51"/>
            <a:ext cx="11430000" cy="7924800"/>
            <a:chOff x="0" y="0"/>
            <a:chExt cx="15240000" cy="1056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10566400"/>
            </a:xfrm>
            <a:custGeom>
              <a:avLst/>
              <a:gdLst/>
              <a:ahLst/>
              <a:cxnLst/>
              <a:rect r="r" b="b" t="t" l="l"/>
              <a:pathLst>
                <a:path h="10566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10566400"/>
                  </a:lnTo>
                  <a:lnTo>
                    <a:pt x="0" y="1056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152"/>
            <a:ext cx="11430000" cy="7924800"/>
            <a:chOff x="0" y="0"/>
            <a:chExt cx="11430000" cy="7924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1430000">
                  <a:moveTo>
                    <a:pt x="0" y="7924800"/>
                  </a:moveTo>
                  <a:lnTo>
                    <a:pt x="11430000" y="792480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2025">
                <a:alpha val="89804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00075" y="3314852"/>
            <a:ext cx="6505575" cy="3905250"/>
            <a:chOff x="0" y="0"/>
            <a:chExt cx="8674100" cy="520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674100" cy="5207000"/>
            </a:xfrm>
            <a:custGeom>
              <a:avLst/>
              <a:gdLst/>
              <a:ahLst/>
              <a:cxnLst/>
              <a:rect r="r" b="b" t="t" l="l"/>
              <a:pathLst>
                <a:path h="5207000" w="8674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5875"/>
                    <a:pt x="23495" y="23495"/>
                  </a:cubicBezTo>
                  <a:cubicBezTo>
                    <a:pt x="16002" y="31115"/>
                    <a:pt x="10160" y="39624"/>
                    <a:pt x="6096" y="49403"/>
                  </a:cubicBezTo>
                  <a:cubicBezTo>
                    <a:pt x="2032" y="59182"/>
                    <a:pt x="0" y="69342"/>
                    <a:pt x="0" y="80010"/>
                  </a:cubicBezTo>
                  <a:lnTo>
                    <a:pt x="0" y="5126990"/>
                  </a:lnTo>
                  <a:cubicBezTo>
                    <a:pt x="0" y="5137658"/>
                    <a:pt x="2032" y="5147818"/>
                    <a:pt x="6096" y="5157597"/>
                  </a:cubicBezTo>
                  <a:cubicBezTo>
                    <a:pt x="10160" y="5167376"/>
                    <a:pt x="15875" y="5176012"/>
                    <a:pt x="23495" y="5183505"/>
                  </a:cubicBezTo>
                  <a:cubicBezTo>
                    <a:pt x="31115" y="5190998"/>
                    <a:pt x="39624" y="5196840"/>
                    <a:pt x="49403" y="5200904"/>
                  </a:cubicBezTo>
                  <a:cubicBezTo>
                    <a:pt x="59182" y="5204968"/>
                    <a:pt x="69469" y="5207000"/>
                    <a:pt x="80010" y="5207000"/>
                  </a:cubicBezTo>
                  <a:lnTo>
                    <a:pt x="8594090" y="5207000"/>
                  </a:lnTo>
                  <a:cubicBezTo>
                    <a:pt x="8604758" y="5207000"/>
                    <a:pt x="8614918" y="5204968"/>
                    <a:pt x="8624697" y="5200904"/>
                  </a:cubicBezTo>
                  <a:cubicBezTo>
                    <a:pt x="8634476" y="5196840"/>
                    <a:pt x="8643112" y="5191125"/>
                    <a:pt x="8650605" y="5183505"/>
                  </a:cubicBezTo>
                  <a:cubicBezTo>
                    <a:pt x="8658098" y="5175885"/>
                    <a:pt x="8663940" y="5167376"/>
                    <a:pt x="8668004" y="5157597"/>
                  </a:cubicBezTo>
                  <a:cubicBezTo>
                    <a:pt x="8672068" y="5147818"/>
                    <a:pt x="8674100" y="5137531"/>
                    <a:pt x="8674100" y="5126990"/>
                  </a:cubicBezTo>
                  <a:lnTo>
                    <a:pt x="8674100" y="80010"/>
                  </a:lnTo>
                  <a:cubicBezTo>
                    <a:pt x="8674100" y="69342"/>
                    <a:pt x="8672068" y="59182"/>
                    <a:pt x="8668004" y="49403"/>
                  </a:cubicBezTo>
                  <a:cubicBezTo>
                    <a:pt x="8663940" y="39624"/>
                    <a:pt x="8658225" y="30988"/>
                    <a:pt x="8650605" y="23495"/>
                  </a:cubicBezTo>
                  <a:cubicBezTo>
                    <a:pt x="8642985" y="16002"/>
                    <a:pt x="8634476" y="10160"/>
                    <a:pt x="8624697" y="6096"/>
                  </a:cubicBezTo>
                  <a:cubicBezTo>
                    <a:pt x="8614918" y="2032"/>
                    <a:pt x="8604758" y="0"/>
                    <a:pt x="85940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451722" y="1936899"/>
            <a:ext cx="3451222" cy="1765297"/>
          </a:xfrm>
          <a:custGeom>
            <a:avLst/>
            <a:gdLst/>
            <a:ahLst/>
            <a:cxnLst/>
            <a:rect r="r" b="b" t="t" l="l"/>
            <a:pathLst>
              <a:path h="1765297" w="3451222">
                <a:moveTo>
                  <a:pt x="0" y="0"/>
                </a:moveTo>
                <a:lnTo>
                  <a:pt x="3451222" y="0"/>
                </a:lnTo>
                <a:lnTo>
                  <a:pt x="3451222" y="1765297"/>
                </a:lnTo>
                <a:lnTo>
                  <a:pt x="0" y="176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51722" y="3746649"/>
            <a:ext cx="3451222" cy="1765297"/>
          </a:xfrm>
          <a:custGeom>
            <a:avLst/>
            <a:gdLst/>
            <a:ahLst/>
            <a:cxnLst/>
            <a:rect r="r" b="b" t="t" l="l"/>
            <a:pathLst>
              <a:path h="1765297" w="3451222">
                <a:moveTo>
                  <a:pt x="0" y="0"/>
                </a:moveTo>
                <a:lnTo>
                  <a:pt x="3451222" y="0"/>
                </a:lnTo>
                <a:lnTo>
                  <a:pt x="3451222" y="1765297"/>
                </a:lnTo>
                <a:lnTo>
                  <a:pt x="0" y="1765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451722" y="5556399"/>
            <a:ext cx="3451222" cy="1765297"/>
          </a:xfrm>
          <a:custGeom>
            <a:avLst/>
            <a:gdLst/>
            <a:ahLst/>
            <a:cxnLst/>
            <a:rect r="r" b="b" t="t" l="l"/>
            <a:pathLst>
              <a:path h="1765297" w="3451222">
                <a:moveTo>
                  <a:pt x="0" y="0"/>
                </a:moveTo>
                <a:lnTo>
                  <a:pt x="3451222" y="0"/>
                </a:lnTo>
                <a:lnTo>
                  <a:pt x="3451222" y="1765297"/>
                </a:lnTo>
                <a:lnTo>
                  <a:pt x="0" y="17652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580245" y="7410602"/>
            <a:ext cx="1754505" cy="419100"/>
            <a:chOff x="0" y="0"/>
            <a:chExt cx="2339340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00075" y="489833"/>
            <a:ext cx="846428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6">
                <a:solidFill>
                  <a:srgbClr val="F0F4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Crisis: Groundwater Depletion in India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9151" y="1847736"/>
            <a:ext cx="36728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0075" y="1847736"/>
            <a:ext cx="645337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Indiafaces asevere groundwaterdepletion crisis,critical for agriculturalsustenance. Agriculture, heavily reliant on irrigation, is a primary driver of this depletion. Micro-irrigation techniques offer a potential solution through efficient water use.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78353" y="6486411"/>
            <a:ext cx="277832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Micro-irrigation for optimised water management.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78353" y="2866911"/>
            <a:ext cx="2881713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Rapidly declining water tables across key agricultural regions.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78353" y="4676661"/>
            <a:ext cx="2963532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Over 80% of groundwater extraction is for irrigation.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78353" y="2197618"/>
            <a:ext cx="160175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Stressed Aquifers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78353" y="5817118"/>
            <a:ext cx="213443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Sustainable Solutions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78353" y="4007368"/>
            <a:ext cx="203090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Agricultural Burden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743207"/>
            <a:ext cx="11430000" cy="6438643"/>
            <a:chOff x="0" y="0"/>
            <a:chExt cx="11430000" cy="6438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2025">
                <a:alpha val="89804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00075" y="3400425"/>
            <a:ext cx="1181100" cy="1181100"/>
            <a:chOff x="0" y="0"/>
            <a:chExt cx="1574800" cy="1574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4800" cy="1574800"/>
            </a:xfrm>
            <a:custGeom>
              <a:avLst/>
              <a:gdLst/>
              <a:ahLst/>
              <a:cxnLst/>
              <a:rect r="r" b="b" t="t" l="l"/>
              <a:pathLst>
                <a:path h="1574800" w="15748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1494790"/>
                  </a:lnTo>
                  <a:cubicBezTo>
                    <a:pt x="0" y="1505458"/>
                    <a:pt x="2032" y="1515618"/>
                    <a:pt x="6096" y="1525397"/>
                  </a:cubicBezTo>
                  <a:cubicBezTo>
                    <a:pt x="10160" y="1535176"/>
                    <a:pt x="15875" y="1543812"/>
                    <a:pt x="23495" y="1551305"/>
                  </a:cubicBezTo>
                  <a:cubicBezTo>
                    <a:pt x="31115" y="1558798"/>
                    <a:pt x="39624" y="1564640"/>
                    <a:pt x="49403" y="1568704"/>
                  </a:cubicBezTo>
                  <a:cubicBezTo>
                    <a:pt x="59182" y="1572768"/>
                    <a:pt x="69469" y="1574800"/>
                    <a:pt x="80010" y="1574800"/>
                  </a:cubicBezTo>
                  <a:lnTo>
                    <a:pt x="1494790" y="1574800"/>
                  </a:lnTo>
                  <a:cubicBezTo>
                    <a:pt x="1505458" y="1574800"/>
                    <a:pt x="1515618" y="1572768"/>
                    <a:pt x="1525397" y="1568704"/>
                  </a:cubicBezTo>
                  <a:cubicBezTo>
                    <a:pt x="1535176" y="1564640"/>
                    <a:pt x="1543812" y="1558925"/>
                    <a:pt x="1551305" y="1551305"/>
                  </a:cubicBezTo>
                  <a:cubicBezTo>
                    <a:pt x="1558798" y="1543685"/>
                    <a:pt x="1564640" y="1535176"/>
                    <a:pt x="1568704" y="1525397"/>
                  </a:cubicBezTo>
                  <a:cubicBezTo>
                    <a:pt x="1572768" y="1515618"/>
                    <a:pt x="1574800" y="1505458"/>
                    <a:pt x="1574800" y="1494790"/>
                  </a:cubicBezTo>
                  <a:lnTo>
                    <a:pt x="1574800" y="80010"/>
                  </a:lnTo>
                  <a:cubicBezTo>
                    <a:pt x="1574800" y="69469"/>
                    <a:pt x="1572768" y="59182"/>
                    <a:pt x="1568704" y="49403"/>
                  </a:cubicBezTo>
                  <a:cubicBezTo>
                    <a:pt x="1564640" y="39624"/>
                    <a:pt x="1558925" y="30988"/>
                    <a:pt x="1551305" y="23495"/>
                  </a:cubicBezTo>
                  <a:cubicBezTo>
                    <a:pt x="1543685" y="16002"/>
                    <a:pt x="1535176" y="10160"/>
                    <a:pt x="1525397" y="6096"/>
                  </a:cubicBezTo>
                  <a:cubicBezTo>
                    <a:pt x="1515618" y="2032"/>
                    <a:pt x="1505458" y="0"/>
                    <a:pt x="1494790" y="0"/>
                  </a:cubicBezTo>
                  <a:close/>
                </a:path>
              </a:pathLst>
            </a:custGeom>
            <a:blipFill>
              <a:blip r:embed="rId4"/>
              <a:stretch>
                <a:fillRect l="-100" t="0" r="-11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086225" y="3400425"/>
            <a:ext cx="1181100" cy="1181100"/>
            <a:chOff x="0" y="0"/>
            <a:chExt cx="1574800" cy="1574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74800" cy="1574800"/>
            </a:xfrm>
            <a:custGeom>
              <a:avLst/>
              <a:gdLst/>
              <a:ahLst/>
              <a:cxnLst/>
              <a:rect r="r" b="b" t="t" l="l"/>
              <a:pathLst>
                <a:path h="1574800" w="15748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1494790"/>
                  </a:lnTo>
                  <a:cubicBezTo>
                    <a:pt x="0" y="1505458"/>
                    <a:pt x="2032" y="1515618"/>
                    <a:pt x="6096" y="1525397"/>
                  </a:cubicBezTo>
                  <a:cubicBezTo>
                    <a:pt x="10160" y="1535176"/>
                    <a:pt x="15875" y="1543812"/>
                    <a:pt x="23495" y="1551305"/>
                  </a:cubicBezTo>
                  <a:cubicBezTo>
                    <a:pt x="31115" y="1558798"/>
                    <a:pt x="39624" y="1564640"/>
                    <a:pt x="49403" y="1568704"/>
                  </a:cubicBezTo>
                  <a:cubicBezTo>
                    <a:pt x="59182" y="1572768"/>
                    <a:pt x="69342" y="1574800"/>
                    <a:pt x="80010" y="1574800"/>
                  </a:cubicBezTo>
                  <a:lnTo>
                    <a:pt x="1494790" y="1574800"/>
                  </a:lnTo>
                  <a:cubicBezTo>
                    <a:pt x="1505458" y="1574800"/>
                    <a:pt x="1515618" y="1572768"/>
                    <a:pt x="1525397" y="1568704"/>
                  </a:cubicBezTo>
                  <a:cubicBezTo>
                    <a:pt x="1535176" y="1564640"/>
                    <a:pt x="1543812" y="1558925"/>
                    <a:pt x="1551305" y="1551305"/>
                  </a:cubicBezTo>
                  <a:cubicBezTo>
                    <a:pt x="1558798" y="1543685"/>
                    <a:pt x="1564640" y="1535176"/>
                    <a:pt x="1568704" y="1525397"/>
                  </a:cubicBezTo>
                  <a:cubicBezTo>
                    <a:pt x="1572768" y="1515618"/>
                    <a:pt x="1574800" y="1505458"/>
                    <a:pt x="1574800" y="1494790"/>
                  </a:cubicBezTo>
                  <a:lnTo>
                    <a:pt x="1574800" y="80010"/>
                  </a:lnTo>
                  <a:cubicBezTo>
                    <a:pt x="1574800" y="69469"/>
                    <a:pt x="1572768" y="59182"/>
                    <a:pt x="1568704" y="49403"/>
                  </a:cubicBezTo>
                  <a:cubicBezTo>
                    <a:pt x="1564640" y="39624"/>
                    <a:pt x="1558925" y="30988"/>
                    <a:pt x="1551305" y="23495"/>
                  </a:cubicBezTo>
                  <a:cubicBezTo>
                    <a:pt x="1543685" y="16002"/>
                    <a:pt x="1535176" y="10160"/>
                    <a:pt x="1525397" y="6096"/>
                  </a:cubicBezTo>
                  <a:cubicBezTo>
                    <a:pt x="1515618" y="2032"/>
                    <a:pt x="1505458" y="0"/>
                    <a:pt x="1494790" y="0"/>
                  </a:cubicBezTo>
                  <a:close/>
                </a:path>
              </a:pathLst>
            </a:custGeom>
            <a:blipFill>
              <a:blip r:embed="rId5"/>
              <a:stretch>
                <a:fillRect l="-100" t="0" r="-113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562850" y="3400425"/>
            <a:ext cx="1181100" cy="1181100"/>
            <a:chOff x="0" y="0"/>
            <a:chExt cx="1574800" cy="1574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74800" cy="1574800"/>
            </a:xfrm>
            <a:custGeom>
              <a:avLst/>
              <a:gdLst/>
              <a:ahLst/>
              <a:cxnLst/>
              <a:rect r="r" b="b" t="t" l="l"/>
              <a:pathLst>
                <a:path h="1574800" w="15748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1494790"/>
                  </a:lnTo>
                  <a:cubicBezTo>
                    <a:pt x="0" y="1505458"/>
                    <a:pt x="2032" y="1515618"/>
                    <a:pt x="6096" y="1525397"/>
                  </a:cubicBezTo>
                  <a:cubicBezTo>
                    <a:pt x="10160" y="1535176"/>
                    <a:pt x="15875" y="1543812"/>
                    <a:pt x="23495" y="1551305"/>
                  </a:cubicBezTo>
                  <a:cubicBezTo>
                    <a:pt x="31115" y="1558798"/>
                    <a:pt x="39624" y="1564640"/>
                    <a:pt x="49403" y="1568704"/>
                  </a:cubicBezTo>
                  <a:cubicBezTo>
                    <a:pt x="59182" y="1572768"/>
                    <a:pt x="69342" y="1574800"/>
                    <a:pt x="80010" y="1574800"/>
                  </a:cubicBezTo>
                  <a:lnTo>
                    <a:pt x="1494790" y="1574800"/>
                  </a:lnTo>
                  <a:cubicBezTo>
                    <a:pt x="1505458" y="1574800"/>
                    <a:pt x="1515618" y="1572768"/>
                    <a:pt x="1525397" y="1568704"/>
                  </a:cubicBezTo>
                  <a:cubicBezTo>
                    <a:pt x="1535176" y="1564640"/>
                    <a:pt x="1543812" y="1558925"/>
                    <a:pt x="1551305" y="1551305"/>
                  </a:cubicBezTo>
                  <a:cubicBezTo>
                    <a:pt x="1558798" y="1543685"/>
                    <a:pt x="1564640" y="1535176"/>
                    <a:pt x="1568704" y="1525397"/>
                  </a:cubicBezTo>
                  <a:cubicBezTo>
                    <a:pt x="1572768" y="1515618"/>
                    <a:pt x="1574800" y="1505458"/>
                    <a:pt x="1574800" y="1494790"/>
                  </a:cubicBezTo>
                  <a:lnTo>
                    <a:pt x="1574800" y="80010"/>
                  </a:lnTo>
                  <a:cubicBezTo>
                    <a:pt x="1574800" y="69469"/>
                    <a:pt x="1572768" y="59182"/>
                    <a:pt x="1568704" y="49403"/>
                  </a:cubicBezTo>
                  <a:cubicBezTo>
                    <a:pt x="1564640" y="39624"/>
                    <a:pt x="1558925" y="30988"/>
                    <a:pt x="1551305" y="23495"/>
                  </a:cubicBezTo>
                  <a:cubicBezTo>
                    <a:pt x="1543685" y="16002"/>
                    <a:pt x="1535176" y="10160"/>
                    <a:pt x="1525397" y="6096"/>
                  </a:cubicBezTo>
                  <a:cubicBezTo>
                    <a:pt x="1515618" y="2032"/>
                    <a:pt x="1505458" y="0"/>
                    <a:pt x="1494790" y="0"/>
                  </a:cubicBezTo>
                  <a:close/>
                </a:path>
              </a:pathLst>
            </a:custGeom>
            <a:blipFill>
              <a:blip r:embed="rId6"/>
              <a:stretch>
                <a:fillRect l="-100" t="0" r="-113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80245" y="6669024"/>
            <a:ext cx="1754505" cy="419100"/>
            <a:chOff x="0" y="0"/>
            <a:chExt cx="2339340" cy="55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9340" cy="558800"/>
            </a:xfrm>
            <a:custGeom>
              <a:avLst/>
              <a:gdLst/>
              <a:ahLst/>
              <a:cxnLst/>
              <a:rect r="r" b="b" t="t" l="l"/>
              <a:pathLst>
                <a:path h="558800" w="2339340">
                  <a:moveTo>
                    <a:pt x="0" y="0"/>
                  </a:moveTo>
                  <a:lnTo>
                    <a:pt x="2339340" y="0"/>
                  </a:lnTo>
                  <a:lnTo>
                    <a:pt x="233934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00075" y="2480405"/>
            <a:ext cx="864689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6">
                <a:solidFill>
                  <a:srgbClr val="F0F4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Motivation &amp; Importance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53959" y="3407140"/>
            <a:ext cx="1928917" cy="1951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Environme ntal Sustainabil ity</a:t>
            </a:r>
          </a:p>
          <a:p>
            <a:pPr algn="l">
              <a:lnSpc>
                <a:spcPts val="2150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Mitigatingecological damage and preserving natural resources.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18454" y="4438383"/>
            <a:ext cx="36728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35346" y="3407140"/>
            <a:ext cx="177633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Farmer Income &amp; Water Efficiency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242190" y="4438383"/>
            <a:ext cx="36728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16734" y="3407140"/>
            <a:ext cx="185087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Policy Relevance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48654" y="3895458"/>
            <a:ext cx="36728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35346" y="4552683"/>
            <a:ext cx="1687935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Enhancingcrop yields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35346" y="4819383"/>
            <a:ext cx="190681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with less water, boosting farmer livelihoods.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16734" y="4009758"/>
            <a:ext cx="149890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Informingeffective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916734" y="4285983"/>
            <a:ext cx="1802120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government subsidy programmes for micro- irrigation adoption.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03" y="673251"/>
            <a:ext cx="11556997" cy="6575422"/>
            <a:chOff x="0" y="0"/>
            <a:chExt cx="11557000" cy="6575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6448426"/>
            </a:xfrm>
            <a:custGeom>
              <a:avLst/>
              <a:gdLst/>
              <a:ahLst/>
              <a:cxnLst/>
              <a:rect r="r" b="b" t="t" l="l"/>
              <a:pathLst>
                <a:path h="6448426" w="11430000">
                  <a:moveTo>
                    <a:pt x="0" y="0"/>
                  </a:moveTo>
                  <a:lnTo>
                    <a:pt x="0" y="6448426"/>
                  </a:lnTo>
                  <a:lnTo>
                    <a:pt x="11430000" y="64484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48426"/>
            </a:xfrm>
            <a:custGeom>
              <a:avLst/>
              <a:gdLst/>
              <a:ahLst/>
              <a:cxnLst/>
              <a:rect r="r" b="b" t="t" l="l"/>
              <a:pathLst>
                <a:path h="6448426" w="11430000">
                  <a:moveTo>
                    <a:pt x="0" y="0"/>
                  </a:moveTo>
                  <a:lnTo>
                    <a:pt x="0" y="6448426"/>
                  </a:lnTo>
                  <a:lnTo>
                    <a:pt x="11430000" y="644842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5F5F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736754"/>
            <a:ext cx="11430000" cy="6448425"/>
            <a:chOff x="0" y="0"/>
            <a:chExt cx="15240000" cy="8597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00" cy="8597900"/>
            </a:xfrm>
            <a:custGeom>
              <a:avLst/>
              <a:gdLst/>
              <a:ahLst/>
              <a:cxnLst/>
              <a:rect r="r" b="b" t="t" l="l"/>
              <a:pathLst>
                <a:path h="85979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97900"/>
                  </a:lnTo>
                  <a:lnTo>
                    <a:pt x="0" y="859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t="0" r="-4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736754"/>
            <a:ext cx="11430000" cy="6448425"/>
            <a:chOff x="0" y="0"/>
            <a:chExt cx="15240000" cy="8597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00" cy="8597900"/>
            </a:xfrm>
            <a:custGeom>
              <a:avLst/>
              <a:gdLst/>
              <a:ahLst/>
              <a:cxnLst/>
              <a:rect r="r" b="b" t="t" l="l"/>
              <a:pathLst>
                <a:path h="85979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97900"/>
                  </a:lnTo>
                  <a:lnTo>
                    <a:pt x="0" y="8597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3503" y="673251"/>
            <a:ext cx="11556997" cy="6575422"/>
          </a:xfrm>
          <a:custGeom>
            <a:avLst/>
            <a:gdLst/>
            <a:ahLst/>
            <a:cxnLst/>
            <a:rect r="r" b="b" t="t" l="l"/>
            <a:pathLst>
              <a:path h="6575422" w="11556997">
                <a:moveTo>
                  <a:pt x="0" y="0"/>
                </a:moveTo>
                <a:lnTo>
                  <a:pt x="11556997" y="0"/>
                </a:lnTo>
                <a:lnTo>
                  <a:pt x="11556997" y="6575422"/>
                </a:lnTo>
                <a:lnTo>
                  <a:pt x="0" y="65754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00075" y="1226435"/>
            <a:ext cx="10510761" cy="462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6">
                <a:solidFill>
                  <a:srgbClr val="F0F4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Does Micro-Irrigation Causally Reduce Groundwater Depletion?</a:t>
            </a:r>
          </a:p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Our core research question investigates the direct causal effect of micro-irrigation adoption.</a:t>
            </a:r>
          </a:p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Traditional correlational studies are </a:t>
            </a:r>
          </a:p>
          <a:p>
            <a:pPr algn="l">
              <a:lnSpc>
                <a:spcPts val="9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insufficient due to confounding factors.</a:t>
            </a:r>
          </a:p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Causal inference is crucial for valid policy </a:t>
            </a:r>
          </a:p>
          <a:p>
            <a:pPr algn="l">
              <a:lnSpc>
                <a:spcPts val="9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recommendations and understanding true </a:t>
            </a:r>
          </a:p>
          <a:p>
            <a:pPr algn="l">
              <a:lnSpc>
                <a:spcPts val="3299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impact.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75983" y="3278062"/>
            <a:ext cx="46215" cy="308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7"/>
              </a:lnSpc>
            </a:pPr>
            <a:r>
              <a:rPr lang="en-US" b="true" sz="11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5946663"/>
            <a:ext cx="2539946" cy="367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Why correlation is NOT causality.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27419" y="4671656"/>
            <a:ext cx="548869" cy="17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b="true" sz="11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68098" y="4860041"/>
            <a:ext cx="1235631" cy="17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b="true" sz="11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Causation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8653" y="6231174"/>
            <a:ext cx="1872815" cy="19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 Correlation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46726" y="3392362"/>
            <a:ext cx="1910096" cy="19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b="true" sz="11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</a:t>
            </a:r>
            <a:r>
              <a:rPr lang="en-US" b="true" sz="1150" spc="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b="true" sz="11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Correlation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5555" y="4671665"/>
            <a:ext cx="586140" cy="17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b="true" sz="11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84512" y="4860051"/>
            <a:ext cx="1235631" cy="17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3"/>
              </a:lnSpc>
            </a:pPr>
            <a:r>
              <a:rPr lang="en-US" b="true" sz="11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Causation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96470" y="4319564"/>
            <a:ext cx="1142162" cy="14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"/>
              </a:lnSpc>
            </a:pPr>
            <a:r>
              <a:rPr lang="en-US" sz="920" spc="1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Ice Cream Sales ↑ vs.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46368" y="4468973"/>
            <a:ext cx="607324" cy="14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"/>
              </a:lnSpc>
            </a:pPr>
            <a:r>
              <a:rPr lang="en-US" sz="920" spc="1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Drowning ↑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00318" y="5514866"/>
            <a:ext cx="1213714" cy="14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"/>
              </a:lnSpc>
            </a:pPr>
            <a:r>
              <a:rPr lang="en-US" sz="920" spc="1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Fertilizer Use ↑ → Crop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04702" y="5664275"/>
            <a:ext cx="363655" cy="14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"/>
              </a:lnSpc>
            </a:pPr>
            <a:r>
              <a:rPr lang="en-US" sz="920" spc="1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Yield ↑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05013" y="4248117"/>
            <a:ext cx="839953" cy="29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59"/>
              </a:lnSpc>
            </a:pPr>
            <a:r>
              <a:rPr lang="en-US" sz="920" spc="1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Micro-irrigation Adoption ↑ and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27591" y="4540439"/>
            <a:ext cx="1176833" cy="14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920" spc="1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Groundwater Decline?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93072" y="5521352"/>
            <a:ext cx="1272311" cy="14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"/>
              </a:lnSpc>
            </a:pPr>
            <a:r>
              <a:rPr lang="en-US" sz="920" spc="1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Summer Temperature ↑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62973" y="5670762"/>
            <a:ext cx="696763" cy="149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6"/>
              </a:lnSpc>
            </a:pPr>
            <a:r>
              <a:rPr lang="en-US" sz="920" spc="1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(Confounder)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679704"/>
            <a:ext cx="11556997" cy="6565649"/>
            <a:chOff x="0" y="0"/>
            <a:chExt cx="11557000" cy="6565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2025">
                <a:alpha val="89804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01675" y="2806446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3"/>
                    <a:pt x="5715" y="11048"/>
                    <a:pt x="8382" y="8382"/>
                  </a:cubicBezTo>
                  <a:cubicBezTo>
                    <a:pt x="11049" y="5715"/>
                    <a:pt x="14097" y="3682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8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7E5D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01675" y="3416046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7E5D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333875" y="2409825"/>
            <a:ext cx="6505575" cy="3895725"/>
            <a:chOff x="0" y="0"/>
            <a:chExt cx="8674100" cy="5194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74100" cy="5194300"/>
            </a:xfrm>
            <a:custGeom>
              <a:avLst/>
              <a:gdLst/>
              <a:ahLst/>
              <a:cxnLst/>
              <a:rect r="r" b="b" t="t" l="l"/>
              <a:pathLst>
                <a:path h="5194300" w="8674100">
                  <a:moveTo>
                    <a:pt x="80010" y="0"/>
                  </a:moveTo>
                  <a:cubicBezTo>
                    <a:pt x="69342" y="0"/>
                    <a:pt x="59182" y="2032"/>
                    <a:pt x="49403" y="6096"/>
                  </a:cubicBezTo>
                  <a:cubicBezTo>
                    <a:pt x="39624" y="10160"/>
                    <a:pt x="30988" y="16002"/>
                    <a:pt x="23495" y="23495"/>
                  </a:cubicBezTo>
                  <a:cubicBezTo>
                    <a:pt x="16002" y="30988"/>
                    <a:pt x="10160" y="39624"/>
                    <a:pt x="6096" y="49403"/>
                  </a:cubicBezTo>
                  <a:cubicBezTo>
                    <a:pt x="2032" y="59182"/>
                    <a:pt x="0" y="69469"/>
                    <a:pt x="0" y="80010"/>
                  </a:cubicBezTo>
                  <a:lnTo>
                    <a:pt x="0" y="5114290"/>
                  </a:lnTo>
                  <a:cubicBezTo>
                    <a:pt x="0" y="5124958"/>
                    <a:pt x="2032" y="5135118"/>
                    <a:pt x="6096" y="5144897"/>
                  </a:cubicBezTo>
                  <a:cubicBezTo>
                    <a:pt x="10160" y="5154676"/>
                    <a:pt x="15875" y="5163312"/>
                    <a:pt x="23495" y="5170805"/>
                  </a:cubicBezTo>
                  <a:cubicBezTo>
                    <a:pt x="31115" y="5178298"/>
                    <a:pt x="39624" y="5184140"/>
                    <a:pt x="49403" y="5188204"/>
                  </a:cubicBezTo>
                  <a:cubicBezTo>
                    <a:pt x="59055" y="5192141"/>
                    <a:pt x="69088" y="5194173"/>
                    <a:pt x="79502" y="5194300"/>
                  </a:cubicBezTo>
                  <a:lnTo>
                    <a:pt x="8594598" y="5194300"/>
                  </a:lnTo>
                  <a:cubicBezTo>
                    <a:pt x="8605012" y="5194173"/>
                    <a:pt x="8615045" y="5192141"/>
                    <a:pt x="8624697" y="5188204"/>
                  </a:cubicBezTo>
                  <a:cubicBezTo>
                    <a:pt x="8634476" y="5184140"/>
                    <a:pt x="8643112" y="5178425"/>
                    <a:pt x="8650605" y="5170805"/>
                  </a:cubicBezTo>
                  <a:cubicBezTo>
                    <a:pt x="8658098" y="5163185"/>
                    <a:pt x="8663940" y="5154676"/>
                    <a:pt x="8668004" y="5144897"/>
                  </a:cubicBezTo>
                  <a:cubicBezTo>
                    <a:pt x="8672068" y="5135118"/>
                    <a:pt x="8674100" y="5124831"/>
                    <a:pt x="8674100" y="5114290"/>
                  </a:cubicBezTo>
                  <a:lnTo>
                    <a:pt x="8674100" y="80010"/>
                  </a:lnTo>
                  <a:cubicBezTo>
                    <a:pt x="8674100" y="69469"/>
                    <a:pt x="8672068" y="59182"/>
                    <a:pt x="8668004" y="49403"/>
                  </a:cubicBezTo>
                  <a:cubicBezTo>
                    <a:pt x="8663940" y="39624"/>
                    <a:pt x="8658225" y="30988"/>
                    <a:pt x="8650605" y="23495"/>
                  </a:cubicBezTo>
                  <a:cubicBezTo>
                    <a:pt x="8642985" y="16002"/>
                    <a:pt x="8634476" y="10160"/>
                    <a:pt x="8624697" y="6096"/>
                  </a:cubicBezTo>
                  <a:cubicBezTo>
                    <a:pt x="8614918" y="2032"/>
                    <a:pt x="8604758" y="0"/>
                    <a:pt x="859409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00075" y="1375505"/>
            <a:ext cx="6253239" cy="180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6">
                <a:solidFill>
                  <a:srgbClr val="F0F4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Overview</a:t>
            </a:r>
          </a:p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Utilising a comprehensive panel dataset to capture spatio-temporal dynamics.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4214" y="3228708"/>
            <a:ext cx="2909640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5"/>
              </a:lnSpc>
            </a:pPr>
            <a:r>
              <a:rPr lang="en-US" b="true" sz="13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Panel Data: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Observations over </a:t>
            </a:r>
          </a:p>
          <a:p>
            <a:pPr algn="just">
              <a:lnSpc>
                <a:spcPts val="82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multiple regions and time periods.</a:t>
            </a:r>
          </a:p>
          <a:p>
            <a:pPr algn="just">
              <a:lnSpc>
                <a:spcPts val="3375"/>
              </a:lnSpc>
            </a:pPr>
            <a:r>
              <a:rPr lang="en-US" b="true" sz="13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Regions &amp; Time: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Spanning key </a:t>
            </a:r>
          </a:p>
          <a:p>
            <a:pPr algn="just">
              <a:lnSpc>
                <a:spcPts val="82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agricultural states of India from 2000-</a:t>
            </a:r>
          </a:p>
          <a:p>
            <a:pPr algn="just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2020.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0075" y="4809858"/>
            <a:ext cx="3139631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Key variables include treatment status </a:t>
            </a:r>
          </a:p>
          <a:p>
            <a:pPr algn="l">
              <a:lnSpc>
                <a:spcPts val="9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(micro-irrigation adoption), outcome </a:t>
            </a:r>
          </a:p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(groundwater levels), and various control </a:t>
            </a:r>
          </a:p>
          <a:p>
            <a:pPr algn="l">
              <a:lnSpc>
                <a:spcPts val="9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variables.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679704"/>
            <a:ext cx="11556997" cy="6565649"/>
          </a:xfrm>
          <a:custGeom>
            <a:avLst/>
            <a:gdLst/>
            <a:ahLst/>
            <a:cxnLst/>
            <a:rect r="r" b="b" t="t" l="l"/>
            <a:pathLst>
              <a:path h="6565649" w="11556997">
                <a:moveTo>
                  <a:pt x="0" y="0"/>
                </a:moveTo>
                <a:lnTo>
                  <a:pt x="11556997" y="0"/>
                </a:lnTo>
                <a:lnTo>
                  <a:pt x="11556997" y="6565649"/>
                </a:lnTo>
                <a:lnTo>
                  <a:pt x="0" y="656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0075" y="1918430"/>
            <a:ext cx="879521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6">
                <a:solidFill>
                  <a:srgbClr val="F0F4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Challenges in Causal Inference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1050" y="4092940"/>
            <a:ext cx="243147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b="true" sz="1687" spc="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Selection Bias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3414" y="4447908"/>
            <a:ext cx="367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1350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48150" y="4178665"/>
            <a:ext cx="23510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b="true" sz="1687" spc="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Confounding Variables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18555" y="4676508"/>
            <a:ext cx="36728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15250" y="4178665"/>
            <a:ext cx="2286638" cy="87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b="true" sz="1687" spc="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Reverse Causality</a:t>
            </a:r>
          </a:p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Depleting groundwatermight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43980" y="4676508"/>
            <a:ext cx="36728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1050" y="4524108"/>
            <a:ext cx="3025321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Farmersadoptingmicro-irrigationmay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1050" y="4800333"/>
            <a:ext cx="199659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not be randomly selected.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48150" y="4790808"/>
            <a:ext cx="2781271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Factorsinfluencing bothtreatment and outcome (e.g., rainfall, soil type).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0075" y="5600433"/>
            <a:ext cx="5959869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Addressing these challenges is paramount for robust causal effect estimation.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15250" y="5067033"/>
            <a:ext cx="2844584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encourage micro-irrigation adoption.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90960"/>
            <a:ext cx="11430000" cy="6743443"/>
            <a:chOff x="0" y="0"/>
            <a:chExt cx="15240000" cy="89912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991219"/>
            </a:xfrm>
            <a:custGeom>
              <a:avLst/>
              <a:gdLst/>
              <a:ahLst/>
              <a:cxnLst/>
              <a:rect r="r" b="b" t="t" l="l"/>
              <a:pathLst>
                <a:path h="89912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991219"/>
                  </a:lnTo>
                  <a:lnTo>
                    <a:pt x="0" y="8991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" t="-3" r="-4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590960"/>
            <a:ext cx="11430000" cy="6743443"/>
            <a:chOff x="0" y="0"/>
            <a:chExt cx="15240000" cy="89912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991219"/>
            </a:xfrm>
            <a:custGeom>
              <a:avLst/>
              <a:gdLst/>
              <a:ahLst/>
              <a:cxnLst/>
              <a:rect r="r" b="b" t="t" l="l"/>
              <a:pathLst>
                <a:path h="89912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991219"/>
                  </a:lnTo>
                  <a:lnTo>
                    <a:pt x="0" y="8991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527456"/>
            <a:ext cx="11556997" cy="6870449"/>
          </a:xfrm>
          <a:custGeom>
            <a:avLst/>
            <a:gdLst/>
            <a:ahLst/>
            <a:cxnLst/>
            <a:rect r="r" b="b" t="t" l="l"/>
            <a:pathLst>
              <a:path h="6870449" w="11556997">
                <a:moveTo>
                  <a:pt x="0" y="0"/>
                </a:moveTo>
                <a:lnTo>
                  <a:pt x="11556997" y="0"/>
                </a:lnTo>
                <a:lnTo>
                  <a:pt x="11556997" y="6870450"/>
                </a:lnTo>
                <a:lnTo>
                  <a:pt x="0" y="687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0075" y="1080383"/>
            <a:ext cx="880296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3375" spc="6">
                <a:solidFill>
                  <a:srgbClr val="F0F4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 Overview: Causal Machine Learning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37562" y="4959658"/>
            <a:ext cx="1025042" cy="28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8"/>
              </a:lnSpc>
            </a:pPr>
            <a:r>
              <a:rPr lang="en-US" b="true" sz="1812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10114" y="5246075"/>
            <a:ext cx="1416110" cy="58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8"/>
              </a:lnSpc>
            </a:pPr>
            <a:r>
              <a:rPr lang="en-US" b="true" sz="1812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Collecti 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0587" y="4959658"/>
            <a:ext cx="1482319" cy="86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8"/>
              </a:lnSpc>
            </a:pPr>
            <a:r>
              <a:rPr lang="en-US" b="true" sz="1812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Pre- process 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39945" y="5102857"/>
            <a:ext cx="1397413" cy="58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b="true" sz="1812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Causal ML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44342" y="4959658"/>
            <a:ext cx="1497997" cy="86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8"/>
              </a:lnSpc>
            </a:pPr>
            <a:r>
              <a:rPr lang="en-US" b="true" sz="1812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 Estimat 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0085" y="6286395"/>
            <a:ext cx="10283142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Our approach integrates advanced machine learning with econometric principles to identify causal effects, moving beyond traditional statistical methods to robustly estimate impact.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3503" y="679704"/>
            <a:ext cx="11556997" cy="6565649"/>
          </a:xfrm>
          <a:custGeom>
            <a:avLst/>
            <a:gdLst/>
            <a:ahLst/>
            <a:cxnLst/>
            <a:rect r="r" b="b" t="t" l="l"/>
            <a:pathLst>
              <a:path h="6565649" w="11556997">
                <a:moveTo>
                  <a:pt x="0" y="0"/>
                </a:moveTo>
                <a:lnTo>
                  <a:pt x="11556997" y="0"/>
                </a:lnTo>
                <a:lnTo>
                  <a:pt x="11556997" y="6565649"/>
                </a:lnTo>
                <a:lnTo>
                  <a:pt x="0" y="6565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0075" y="1470755"/>
            <a:ext cx="939581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6">
                <a:solidFill>
                  <a:srgbClr val="F0F4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Causal Techniques Utilised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0575" y="5045440"/>
            <a:ext cx="34945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Clustering &amp; Robust Standard Errors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6722" y="5533758"/>
            <a:ext cx="36728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0575" y="3083290"/>
            <a:ext cx="449681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687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Double Machine Learning (DML)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7184" y="3571608"/>
            <a:ext cx="36728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91225" y="2988040"/>
            <a:ext cx="235649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b="true" sz="1687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Fixed Effects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29533" y="3343008"/>
            <a:ext cx="367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91225" y="4950190"/>
            <a:ext cx="326039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b="true" sz="1687" spc="3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Sensitivity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59023" y="5305158"/>
            <a:ext cx="3672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0575" y="5648058"/>
            <a:ext cx="4452442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Accountsforcorrelationwithinclusters(e.g.,districts) and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0575" y="5924283"/>
            <a:ext cx="1458316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heteroscedasticity.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0575" y="3714483"/>
            <a:ext cx="4712637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Minimises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regularisation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bias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from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high-dimensional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controls.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91225" y="3447783"/>
            <a:ext cx="4029723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Controlsforunobservedtime-invariant confounders.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91225" y="5409933"/>
            <a:ext cx="4461510" cy="2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Assesses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robustness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of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to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unobserved</a:t>
            </a:r>
            <a:r>
              <a:rPr lang="en-US" sz="1350" spc="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confounding.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" t="-3" r="-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743207"/>
            <a:ext cx="11430000" cy="6438643"/>
            <a:chOff x="0" y="0"/>
            <a:chExt cx="15240000" cy="8584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63503" y="679704"/>
            <a:ext cx="11556997" cy="6565649"/>
            <a:chOff x="0" y="0"/>
            <a:chExt cx="11557000" cy="65656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6438645"/>
            </a:xfrm>
            <a:custGeom>
              <a:avLst/>
              <a:gdLst/>
              <a:ahLst/>
              <a:cxnLst/>
              <a:rect r="r" b="b" t="t" l="l"/>
              <a:pathLst>
                <a:path h="6438645" w="11430000">
                  <a:moveTo>
                    <a:pt x="0" y="0"/>
                  </a:moveTo>
                  <a:lnTo>
                    <a:pt x="0" y="6438645"/>
                  </a:lnTo>
                  <a:lnTo>
                    <a:pt x="11430000" y="643864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2025">
                <a:alpha val="89804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01675" y="2939796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7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3"/>
                    <a:pt x="5715" y="11048"/>
                    <a:pt x="8382" y="8382"/>
                  </a:cubicBezTo>
                  <a:cubicBezTo>
                    <a:pt x="11049" y="5715"/>
                    <a:pt x="14097" y="3682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8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D7E5D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01675" y="382562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8"/>
                  </a:cubicBezTo>
                  <a:cubicBezTo>
                    <a:pt x="53594" y="43054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6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8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6"/>
                    <a:pt x="762" y="21082"/>
                    <a:pt x="2159" y="17654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6"/>
                    <a:pt x="14097" y="3683"/>
                    <a:pt x="17653" y="2160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60"/>
                  </a:cubicBezTo>
                  <a:cubicBezTo>
                    <a:pt x="42926" y="3556"/>
                    <a:pt x="46101" y="5716"/>
                    <a:pt x="48768" y="8382"/>
                  </a:cubicBezTo>
                  <a:cubicBezTo>
                    <a:pt x="51435" y="11049"/>
                    <a:pt x="53467" y="14097"/>
                    <a:pt x="54991" y="17654"/>
                  </a:cubicBezTo>
                  <a:cubicBezTo>
                    <a:pt x="56515" y="21210"/>
                    <a:pt x="57150" y="24766"/>
                    <a:pt x="57150" y="28575"/>
                  </a:cubicBezTo>
                </a:path>
              </a:pathLst>
            </a:custGeom>
            <a:solidFill>
              <a:srgbClr val="D7E5D8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962775" y="2935605"/>
              <a:ext cx="1372235" cy="1372362"/>
            </a:xfrm>
            <a:custGeom>
              <a:avLst/>
              <a:gdLst/>
              <a:ahLst/>
              <a:cxnLst/>
              <a:rect r="r" b="b" t="t" l="l"/>
              <a:pathLst>
                <a:path h="1372362" w="1372235">
                  <a:moveTo>
                    <a:pt x="1372235" y="686181"/>
                  </a:moveTo>
                  <a:cubicBezTo>
                    <a:pt x="1372235" y="708659"/>
                    <a:pt x="1371092" y="731011"/>
                    <a:pt x="1368933" y="753363"/>
                  </a:cubicBezTo>
                  <a:cubicBezTo>
                    <a:pt x="1366774" y="775715"/>
                    <a:pt x="1363472" y="797940"/>
                    <a:pt x="1359027" y="819911"/>
                  </a:cubicBezTo>
                  <a:cubicBezTo>
                    <a:pt x="1354582" y="841882"/>
                    <a:pt x="1349248" y="863726"/>
                    <a:pt x="1342644" y="885189"/>
                  </a:cubicBezTo>
                  <a:cubicBezTo>
                    <a:pt x="1336040" y="906652"/>
                    <a:pt x="1328547" y="927861"/>
                    <a:pt x="1319911" y="948562"/>
                  </a:cubicBezTo>
                  <a:cubicBezTo>
                    <a:pt x="1311275" y="969263"/>
                    <a:pt x="1301750" y="989583"/>
                    <a:pt x="1291082" y="1009395"/>
                  </a:cubicBezTo>
                  <a:cubicBezTo>
                    <a:pt x="1280414" y="1029207"/>
                    <a:pt x="1268984" y="1048384"/>
                    <a:pt x="1256538" y="1067180"/>
                  </a:cubicBezTo>
                  <a:cubicBezTo>
                    <a:pt x="1244092" y="1085976"/>
                    <a:pt x="1230630" y="1103883"/>
                    <a:pt x="1216406" y="1121282"/>
                  </a:cubicBezTo>
                  <a:cubicBezTo>
                    <a:pt x="1202182" y="1138681"/>
                    <a:pt x="1187069" y="1155318"/>
                    <a:pt x="1171194" y="1171193"/>
                  </a:cubicBezTo>
                  <a:cubicBezTo>
                    <a:pt x="1155319" y="1187068"/>
                    <a:pt x="1138682" y="1202181"/>
                    <a:pt x="1121283" y="1216405"/>
                  </a:cubicBezTo>
                  <a:cubicBezTo>
                    <a:pt x="1103884" y="1230629"/>
                    <a:pt x="1085850" y="1243964"/>
                    <a:pt x="1067181" y="1256537"/>
                  </a:cubicBezTo>
                  <a:cubicBezTo>
                    <a:pt x="1048512" y="1269110"/>
                    <a:pt x="1029208" y="1280540"/>
                    <a:pt x="1009396" y="1291208"/>
                  </a:cubicBezTo>
                  <a:cubicBezTo>
                    <a:pt x="989584" y="1301876"/>
                    <a:pt x="969264" y="1311401"/>
                    <a:pt x="948563" y="1320037"/>
                  </a:cubicBezTo>
                  <a:cubicBezTo>
                    <a:pt x="927862" y="1328673"/>
                    <a:pt x="906653" y="1336166"/>
                    <a:pt x="885190" y="1342770"/>
                  </a:cubicBezTo>
                  <a:cubicBezTo>
                    <a:pt x="863727" y="1349374"/>
                    <a:pt x="841883" y="1354708"/>
                    <a:pt x="819912" y="1359153"/>
                  </a:cubicBezTo>
                  <a:cubicBezTo>
                    <a:pt x="797941" y="1363598"/>
                    <a:pt x="775716" y="1366773"/>
                    <a:pt x="753364" y="1369059"/>
                  </a:cubicBezTo>
                  <a:cubicBezTo>
                    <a:pt x="731012" y="1371345"/>
                    <a:pt x="708533" y="1372361"/>
                    <a:pt x="686181" y="1372361"/>
                  </a:cubicBezTo>
                  <a:cubicBezTo>
                    <a:pt x="663828" y="1372361"/>
                    <a:pt x="641350" y="1371218"/>
                    <a:pt x="618998" y="1369059"/>
                  </a:cubicBezTo>
                  <a:cubicBezTo>
                    <a:pt x="596646" y="1366900"/>
                    <a:pt x="574421" y="1363598"/>
                    <a:pt x="552450" y="1359153"/>
                  </a:cubicBezTo>
                  <a:cubicBezTo>
                    <a:pt x="530478" y="1354708"/>
                    <a:pt x="508635" y="1349374"/>
                    <a:pt x="487172" y="1342770"/>
                  </a:cubicBezTo>
                  <a:cubicBezTo>
                    <a:pt x="465709" y="1336166"/>
                    <a:pt x="444500" y="1328673"/>
                    <a:pt x="423799" y="1320037"/>
                  </a:cubicBezTo>
                  <a:cubicBezTo>
                    <a:pt x="403098" y="1311401"/>
                    <a:pt x="382778" y="1301876"/>
                    <a:pt x="362966" y="1291208"/>
                  </a:cubicBezTo>
                  <a:cubicBezTo>
                    <a:pt x="343153" y="1280540"/>
                    <a:pt x="323850" y="1269110"/>
                    <a:pt x="305181" y="1256537"/>
                  </a:cubicBezTo>
                  <a:cubicBezTo>
                    <a:pt x="286512" y="1243964"/>
                    <a:pt x="268478" y="1230629"/>
                    <a:pt x="251078" y="1216405"/>
                  </a:cubicBezTo>
                  <a:cubicBezTo>
                    <a:pt x="233680" y="1202181"/>
                    <a:pt x="217043" y="1187068"/>
                    <a:pt x="201168" y="1171193"/>
                  </a:cubicBezTo>
                  <a:cubicBezTo>
                    <a:pt x="185293" y="1155318"/>
                    <a:pt x="170180" y="1138681"/>
                    <a:pt x="155956" y="1121282"/>
                  </a:cubicBezTo>
                  <a:cubicBezTo>
                    <a:pt x="141732" y="1103883"/>
                    <a:pt x="128397" y="1085849"/>
                    <a:pt x="115824" y="1067180"/>
                  </a:cubicBezTo>
                  <a:cubicBezTo>
                    <a:pt x="103251" y="1048511"/>
                    <a:pt x="91821" y="1029207"/>
                    <a:pt x="81153" y="1009395"/>
                  </a:cubicBezTo>
                  <a:cubicBezTo>
                    <a:pt x="70485" y="989583"/>
                    <a:pt x="60960" y="969263"/>
                    <a:pt x="52324" y="948562"/>
                  </a:cubicBezTo>
                  <a:cubicBezTo>
                    <a:pt x="43688" y="927861"/>
                    <a:pt x="36195" y="906652"/>
                    <a:pt x="29591" y="885189"/>
                  </a:cubicBezTo>
                  <a:cubicBezTo>
                    <a:pt x="22987" y="863726"/>
                    <a:pt x="17653" y="841882"/>
                    <a:pt x="13208" y="819911"/>
                  </a:cubicBezTo>
                  <a:cubicBezTo>
                    <a:pt x="8763" y="797940"/>
                    <a:pt x="5588" y="775715"/>
                    <a:pt x="3302" y="753363"/>
                  </a:cubicBezTo>
                  <a:cubicBezTo>
                    <a:pt x="1016" y="731011"/>
                    <a:pt x="0" y="708659"/>
                    <a:pt x="0" y="686181"/>
                  </a:cubicBezTo>
                  <a:cubicBezTo>
                    <a:pt x="0" y="663702"/>
                    <a:pt x="1143" y="641350"/>
                    <a:pt x="3302" y="618997"/>
                  </a:cubicBezTo>
                  <a:cubicBezTo>
                    <a:pt x="5461" y="596646"/>
                    <a:pt x="8763" y="574421"/>
                    <a:pt x="13208" y="552450"/>
                  </a:cubicBezTo>
                  <a:cubicBezTo>
                    <a:pt x="17653" y="530478"/>
                    <a:pt x="23114" y="508634"/>
                    <a:pt x="29591" y="487171"/>
                  </a:cubicBezTo>
                  <a:cubicBezTo>
                    <a:pt x="36068" y="465709"/>
                    <a:pt x="43688" y="444500"/>
                    <a:pt x="52324" y="423798"/>
                  </a:cubicBezTo>
                  <a:cubicBezTo>
                    <a:pt x="60960" y="403097"/>
                    <a:pt x="70485" y="382778"/>
                    <a:pt x="81153" y="362965"/>
                  </a:cubicBezTo>
                  <a:cubicBezTo>
                    <a:pt x="91821" y="343153"/>
                    <a:pt x="103251" y="323977"/>
                    <a:pt x="115824" y="305180"/>
                  </a:cubicBezTo>
                  <a:cubicBezTo>
                    <a:pt x="128397" y="286384"/>
                    <a:pt x="141605" y="268477"/>
                    <a:pt x="155956" y="251078"/>
                  </a:cubicBezTo>
                  <a:cubicBezTo>
                    <a:pt x="170307" y="233679"/>
                    <a:pt x="185293" y="217042"/>
                    <a:pt x="201168" y="201167"/>
                  </a:cubicBezTo>
                  <a:cubicBezTo>
                    <a:pt x="217043" y="185292"/>
                    <a:pt x="233680" y="170179"/>
                    <a:pt x="251078" y="155955"/>
                  </a:cubicBezTo>
                  <a:cubicBezTo>
                    <a:pt x="268478" y="141731"/>
                    <a:pt x="286512" y="128396"/>
                    <a:pt x="305181" y="115823"/>
                  </a:cubicBezTo>
                  <a:cubicBezTo>
                    <a:pt x="323850" y="103250"/>
                    <a:pt x="343153" y="91820"/>
                    <a:pt x="362966" y="81152"/>
                  </a:cubicBezTo>
                  <a:cubicBezTo>
                    <a:pt x="382778" y="70485"/>
                    <a:pt x="403098" y="60960"/>
                    <a:pt x="423799" y="52323"/>
                  </a:cubicBezTo>
                  <a:cubicBezTo>
                    <a:pt x="444500" y="43688"/>
                    <a:pt x="465709" y="36195"/>
                    <a:pt x="487172" y="29591"/>
                  </a:cubicBezTo>
                  <a:cubicBezTo>
                    <a:pt x="508635" y="22987"/>
                    <a:pt x="530478" y="17653"/>
                    <a:pt x="552450" y="13207"/>
                  </a:cubicBezTo>
                  <a:cubicBezTo>
                    <a:pt x="574421" y="8763"/>
                    <a:pt x="596646" y="5588"/>
                    <a:pt x="618998" y="3301"/>
                  </a:cubicBezTo>
                  <a:cubicBezTo>
                    <a:pt x="641350" y="1016"/>
                    <a:pt x="663828" y="0"/>
                    <a:pt x="686181" y="0"/>
                  </a:cubicBezTo>
                  <a:cubicBezTo>
                    <a:pt x="708533" y="0"/>
                    <a:pt x="731012" y="1142"/>
                    <a:pt x="753364" y="3301"/>
                  </a:cubicBezTo>
                  <a:cubicBezTo>
                    <a:pt x="775716" y="5460"/>
                    <a:pt x="797941" y="8763"/>
                    <a:pt x="819912" y="13207"/>
                  </a:cubicBezTo>
                  <a:cubicBezTo>
                    <a:pt x="841883" y="17653"/>
                    <a:pt x="863727" y="22987"/>
                    <a:pt x="885190" y="29591"/>
                  </a:cubicBezTo>
                  <a:cubicBezTo>
                    <a:pt x="906653" y="36195"/>
                    <a:pt x="927862" y="43688"/>
                    <a:pt x="948563" y="52323"/>
                  </a:cubicBezTo>
                  <a:cubicBezTo>
                    <a:pt x="969264" y="60960"/>
                    <a:pt x="989584" y="70485"/>
                    <a:pt x="1009396" y="81152"/>
                  </a:cubicBezTo>
                  <a:cubicBezTo>
                    <a:pt x="1029208" y="91820"/>
                    <a:pt x="1048385" y="103250"/>
                    <a:pt x="1067181" y="115823"/>
                  </a:cubicBezTo>
                  <a:cubicBezTo>
                    <a:pt x="1085977" y="128396"/>
                    <a:pt x="1103884" y="141731"/>
                    <a:pt x="1121283" y="155955"/>
                  </a:cubicBezTo>
                  <a:cubicBezTo>
                    <a:pt x="1138682" y="170179"/>
                    <a:pt x="1155319" y="185292"/>
                    <a:pt x="1171194" y="201167"/>
                  </a:cubicBezTo>
                  <a:cubicBezTo>
                    <a:pt x="1187069" y="217042"/>
                    <a:pt x="1202182" y="233679"/>
                    <a:pt x="1216406" y="251078"/>
                  </a:cubicBezTo>
                  <a:cubicBezTo>
                    <a:pt x="1230630" y="268477"/>
                    <a:pt x="1243965" y="286511"/>
                    <a:pt x="1256538" y="305180"/>
                  </a:cubicBezTo>
                  <a:cubicBezTo>
                    <a:pt x="1269111" y="323850"/>
                    <a:pt x="1280541" y="343153"/>
                    <a:pt x="1291082" y="362965"/>
                  </a:cubicBezTo>
                  <a:cubicBezTo>
                    <a:pt x="1301623" y="382778"/>
                    <a:pt x="1311275" y="403097"/>
                    <a:pt x="1319911" y="423798"/>
                  </a:cubicBezTo>
                  <a:cubicBezTo>
                    <a:pt x="1328547" y="444500"/>
                    <a:pt x="1336040" y="465709"/>
                    <a:pt x="1342644" y="487171"/>
                  </a:cubicBezTo>
                  <a:cubicBezTo>
                    <a:pt x="1349248" y="508634"/>
                    <a:pt x="1354582" y="530478"/>
                    <a:pt x="1359027" y="552450"/>
                  </a:cubicBezTo>
                  <a:cubicBezTo>
                    <a:pt x="1363472" y="574421"/>
                    <a:pt x="1366647" y="596646"/>
                    <a:pt x="1368933" y="618997"/>
                  </a:cubicBezTo>
                  <a:cubicBezTo>
                    <a:pt x="1371219" y="641350"/>
                    <a:pt x="1372235" y="663828"/>
                    <a:pt x="1372235" y="686181"/>
                  </a:cubicBezTo>
                </a:path>
              </a:pathLst>
            </a:custGeom>
            <a:solidFill>
              <a:srgbClr val="A9F00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957822" y="2930525"/>
              <a:ext cx="1382522" cy="1382521"/>
            </a:xfrm>
            <a:custGeom>
              <a:avLst/>
              <a:gdLst/>
              <a:ahLst/>
              <a:cxnLst/>
              <a:rect r="r" b="b" t="t" l="l"/>
              <a:pathLst>
                <a:path h="1382521" w="1382522">
                  <a:moveTo>
                    <a:pt x="1382522" y="691261"/>
                  </a:moveTo>
                  <a:cubicBezTo>
                    <a:pt x="1382522" y="713866"/>
                    <a:pt x="1381378" y="736472"/>
                    <a:pt x="1379220" y="759078"/>
                  </a:cubicBezTo>
                  <a:lnTo>
                    <a:pt x="1373886" y="758570"/>
                  </a:lnTo>
                  <a:lnTo>
                    <a:pt x="1379220" y="759078"/>
                  </a:lnTo>
                  <a:cubicBezTo>
                    <a:pt x="1377061" y="781557"/>
                    <a:pt x="1373631" y="804036"/>
                    <a:pt x="1369314" y="826134"/>
                  </a:cubicBezTo>
                  <a:lnTo>
                    <a:pt x="1364106" y="825118"/>
                  </a:lnTo>
                  <a:lnTo>
                    <a:pt x="1369314" y="826134"/>
                  </a:lnTo>
                  <a:cubicBezTo>
                    <a:pt x="1364868" y="848359"/>
                    <a:pt x="1359408" y="870330"/>
                    <a:pt x="1352803" y="891920"/>
                  </a:cubicBezTo>
                  <a:cubicBezTo>
                    <a:pt x="1346200" y="913637"/>
                    <a:pt x="1338579" y="934846"/>
                    <a:pt x="1329943" y="955801"/>
                  </a:cubicBezTo>
                  <a:lnTo>
                    <a:pt x="1324990" y="953769"/>
                  </a:lnTo>
                  <a:lnTo>
                    <a:pt x="1329943" y="955801"/>
                  </a:lnTo>
                  <a:cubicBezTo>
                    <a:pt x="1321308" y="976756"/>
                    <a:pt x="1311655" y="997203"/>
                    <a:pt x="1300988" y="1017142"/>
                  </a:cubicBezTo>
                  <a:cubicBezTo>
                    <a:pt x="1290320" y="1037081"/>
                    <a:pt x="1278636" y="1056512"/>
                    <a:pt x="1266063" y="1075308"/>
                  </a:cubicBezTo>
                  <a:cubicBezTo>
                    <a:pt x="1253490" y="1094104"/>
                    <a:pt x="1240028" y="1112265"/>
                    <a:pt x="1225677" y="1129791"/>
                  </a:cubicBezTo>
                  <a:lnTo>
                    <a:pt x="1221486" y="1126362"/>
                  </a:lnTo>
                  <a:lnTo>
                    <a:pt x="1225677" y="1129791"/>
                  </a:lnTo>
                  <a:cubicBezTo>
                    <a:pt x="1211326" y="1147317"/>
                    <a:pt x="1196086" y="1164081"/>
                    <a:pt x="1180084" y="1180083"/>
                  </a:cubicBezTo>
                  <a:lnTo>
                    <a:pt x="1176274" y="1176273"/>
                  </a:lnTo>
                  <a:lnTo>
                    <a:pt x="1180084" y="1180083"/>
                  </a:lnTo>
                  <a:cubicBezTo>
                    <a:pt x="1164081" y="1196085"/>
                    <a:pt x="1147317" y="1211325"/>
                    <a:pt x="1129791" y="1225676"/>
                  </a:cubicBezTo>
                  <a:cubicBezTo>
                    <a:pt x="1112265" y="1240027"/>
                    <a:pt x="1094104" y="1253489"/>
                    <a:pt x="1075309" y="1266062"/>
                  </a:cubicBezTo>
                  <a:lnTo>
                    <a:pt x="1072388" y="1261617"/>
                  </a:lnTo>
                  <a:lnTo>
                    <a:pt x="1075309" y="1266062"/>
                  </a:lnTo>
                  <a:cubicBezTo>
                    <a:pt x="1056513" y="1278635"/>
                    <a:pt x="1037081" y="1290319"/>
                    <a:pt x="1017142" y="1300987"/>
                  </a:cubicBezTo>
                  <a:cubicBezTo>
                    <a:pt x="997203" y="1311655"/>
                    <a:pt x="976756" y="1321307"/>
                    <a:pt x="955802" y="1329943"/>
                  </a:cubicBezTo>
                  <a:lnTo>
                    <a:pt x="953770" y="1324990"/>
                  </a:lnTo>
                  <a:lnTo>
                    <a:pt x="955802" y="1329943"/>
                  </a:lnTo>
                  <a:cubicBezTo>
                    <a:pt x="934847" y="1338579"/>
                    <a:pt x="913638" y="1346199"/>
                    <a:pt x="891921" y="1352803"/>
                  </a:cubicBezTo>
                  <a:cubicBezTo>
                    <a:pt x="870203" y="1359407"/>
                    <a:pt x="848360" y="1364868"/>
                    <a:pt x="826135" y="1369313"/>
                  </a:cubicBezTo>
                  <a:cubicBezTo>
                    <a:pt x="803910" y="1373758"/>
                    <a:pt x="781558" y="1377060"/>
                    <a:pt x="759078" y="1379219"/>
                  </a:cubicBezTo>
                  <a:lnTo>
                    <a:pt x="758571" y="1373885"/>
                  </a:lnTo>
                  <a:lnTo>
                    <a:pt x="759078" y="1379219"/>
                  </a:lnTo>
                  <a:cubicBezTo>
                    <a:pt x="736600" y="1381505"/>
                    <a:pt x="713993" y="1382521"/>
                    <a:pt x="691261" y="1382521"/>
                  </a:cubicBezTo>
                  <a:lnTo>
                    <a:pt x="691261" y="1377187"/>
                  </a:lnTo>
                  <a:lnTo>
                    <a:pt x="691261" y="1382521"/>
                  </a:lnTo>
                  <a:cubicBezTo>
                    <a:pt x="668654" y="1382521"/>
                    <a:pt x="646049" y="1381378"/>
                    <a:pt x="623442" y="1379219"/>
                  </a:cubicBezTo>
                  <a:cubicBezTo>
                    <a:pt x="600964" y="1377060"/>
                    <a:pt x="578485" y="1373631"/>
                    <a:pt x="556387" y="1369313"/>
                  </a:cubicBezTo>
                  <a:cubicBezTo>
                    <a:pt x="534162" y="1364868"/>
                    <a:pt x="512317" y="1359407"/>
                    <a:pt x="490601" y="1352803"/>
                  </a:cubicBezTo>
                  <a:cubicBezTo>
                    <a:pt x="468884" y="1346199"/>
                    <a:pt x="447675" y="1338579"/>
                    <a:pt x="426720" y="1329943"/>
                  </a:cubicBezTo>
                  <a:lnTo>
                    <a:pt x="428752" y="1324990"/>
                  </a:lnTo>
                  <a:lnTo>
                    <a:pt x="426720" y="1329943"/>
                  </a:lnTo>
                  <a:cubicBezTo>
                    <a:pt x="405765" y="1321307"/>
                    <a:pt x="385317" y="1311655"/>
                    <a:pt x="365378" y="1300987"/>
                  </a:cubicBezTo>
                  <a:cubicBezTo>
                    <a:pt x="345440" y="1290319"/>
                    <a:pt x="326009" y="1278635"/>
                    <a:pt x="307213" y="1266062"/>
                  </a:cubicBezTo>
                  <a:cubicBezTo>
                    <a:pt x="288416" y="1253489"/>
                    <a:pt x="270255" y="1240027"/>
                    <a:pt x="252729" y="1225676"/>
                  </a:cubicBezTo>
                  <a:cubicBezTo>
                    <a:pt x="235203" y="1211325"/>
                    <a:pt x="218440" y="1196085"/>
                    <a:pt x="202438" y="1180083"/>
                  </a:cubicBezTo>
                  <a:lnTo>
                    <a:pt x="206248" y="1176273"/>
                  </a:lnTo>
                  <a:lnTo>
                    <a:pt x="202438" y="1180083"/>
                  </a:lnTo>
                  <a:cubicBezTo>
                    <a:pt x="186436" y="1164081"/>
                    <a:pt x="171196" y="1147317"/>
                    <a:pt x="156845" y="1129791"/>
                  </a:cubicBezTo>
                  <a:cubicBezTo>
                    <a:pt x="142493" y="1112265"/>
                    <a:pt x="129031" y="1094104"/>
                    <a:pt x="116459" y="1075308"/>
                  </a:cubicBezTo>
                  <a:lnTo>
                    <a:pt x="120903" y="1072387"/>
                  </a:lnTo>
                  <a:lnTo>
                    <a:pt x="116459" y="1075308"/>
                  </a:lnTo>
                  <a:cubicBezTo>
                    <a:pt x="103886" y="1056512"/>
                    <a:pt x="92202" y="1037081"/>
                    <a:pt x="81534" y="1017142"/>
                  </a:cubicBezTo>
                  <a:cubicBezTo>
                    <a:pt x="70865" y="997203"/>
                    <a:pt x="61214" y="976756"/>
                    <a:pt x="52578" y="955801"/>
                  </a:cubicBezTo>
                  <a:lnTo>
                    <a:pt x="57530" y="953769"/>
                  </a:lnTo>
                  <a:lnTo>
                    <a:pt x="52578" y="955801"/>
                  </a:lnTo>
                  <a:cubicBezTo>
                    <a:pt x="43941" y="934846"/>
                    <a:pt x="36322" y="913637"/>
                    <a:pt x="29717" y="891920"/>
                  </a:cubicBezTo>
                  <a:cubicBezTo>
                    <a:pt x="23114" y="870203"/>
                    <a:pt x="17653" y="848359"/>
                    <a:pt x="13208" y="826134"/>
                  </a:cubicBezTo>
                  <a:cubicBezTo>
                    <a:pt x="8763" y="803909"/>
                    <a:pt x="5461" y="781557"/>
                    <a:pt x="3302" y="759078"/>
                  </a:cubicBezTo>
                  <a:lnTo>
                    <a:pt x="8636" y="758570"/>
                  </a:lnTo>
                  <a:lnTo>
                    <a:pt x="3302" y="759078"/>
                  </a:lnTo>
                  <a:cubicBezTo>
                    <a:pt x="1015" y="736599"/>
                    <a:pt x="0" y="713993"/>
                    <a:pt x="0" y="691261"/>
                  </a:cubicBezTo>
                  <a:lnTo>
                    <a:pt x="5334" y="691261"/>
                  </a:lnTo>
                  <a:lnTo>
                    <a:pt x="0" y="691261"/>
                  </a:lnTo>
                  <a:cubicBezTo>
                    <a:pt x="0" y="668654"/>
                    <a:pt x="1142" y="646049"/>
                    <a:pt x="3302" y="623443"/>
                  </a:cubicBezTo>
                  <a:lnTo>
                    <a:pt x="8636" y="623951"/>
                  </a:lnTo>
                  <a:lnTo>
                    <a:pt x="3302" y="623443"/>
                  </a:lnTo>
                  <a:cubicBezTo>
                    <a:pt x="5461" y="600964"/>
                    <a:pt x="8890" y="578484"/>
                    <a:pt x="13208" y="556387"/>
                  </a:cubicBezTo>
                  <a:cubicBezTo>
                    <a:pt x="17653" y="534162"/>
                    <a:pt x="23114" y="512190"/>
                    <a:pt x="29717" y="490601"/>
                  </a:cubicBezTo>
                  <a:cubicBezTo>
                    <a:pt x="36322" y="468883"/>
                    <a:pt x="43941" y="447675"/>
                    <a:pt x="52578" y="426720"/>
                  </a:cubicBezTo>
                  <a:cubicBezTo>
                    <a:pt x="61214" y="405764"/>
                    <a:pt x="70865" y="385318"/>
                    <a:pt x="81534" y="365378"/>
                  </a:cubicBezTo>
                  <a:cubicBezTo>
                    <a:pt x="92202" y="345439"/>
                    <a:pt x="103886" y="326008"/>
                    <a:pt x="116459" y="307212"/>
                  </a:cubicBezTo>
                  <a:lnTo>
                    <a:pt x="120903" y="310133"/>
                  </a:lnTo>
                  <a:lnTo>
                    <a:pt x="116459" y="307212"/>
                  </a:lnTo>
                  <a:cubicBezTo>
                    <a:pt x="129031" y="288416"/>
                    <a:pt x="142493" y="270255"/>
                    <a:pt x="156845" y="252729"/>
                  </a:cubicBezTo>
                  <a:cubicBezTo>
                    <a:pt x="171196" y="235203"/>
                    <a:pt x="186436" y="218439"/>
                    <a:pt x="202438" y="202437"/>
                  </a:cubicBezTo>
                  <a:lnTo>
                    <a:pt x="206248" y="206247"/>
                  </a:lnTo>
                  <a:lnTo>
                    <a:pt x="202438" y="202437"/>
                  </a:lnTo>
                  <a:cubicBezTo>
                    <a:pt x="218440" y="186435"/>
                    <a:pt x="235203" y="171195"/>
                    <a:pt x="252729" y="156844"/>
                  </a:cubicBezTo>
                  <a:lnTo>
                    <a:pt x="256159" y="161035"/>
                  </a:lnTo>
                  <a:lnTo>
                    <a:pt x="252729" y="156844"/>
                  </a:lnTo>
                  <a:cubicBezTo>
                    <a:pt x="270255" y="142493"/>
                    <a:pt x="288416" y="129031"/>
                    <a:pt x="307213" y="116458"/>
                  </a:cubicBezTo>
                  <a:lnTo>
                    <a:pt x="310134" y="120903"/>
                  </a:lnTo>
                  <a:lnTo>
                    <a:pt x="307213" y="116458"/>
                  </a:lnTo>
                  <a:cubicBezTo>
                    <a:pt x="326009" y="103885"/>
                    <a:pt x="345440" y="92201"/>
                    <a:pt x="365378" y="81533"/>
                  </a:cubicBezTo>
                  <a:cubicBezTo>
                    <a:pt x="385317" y="70865"/>
                    <a:pt x="405765" y="61214"/>
                    <a:pt x="426720" y="52578"/>
                  </a:cubicBezTo>
                  <a:lnTo>
                    <a:pt x="428752" y="57531"/>
                  </a:lnTo>
                  <a:lnTo>
                    <a:pt x="426720" y="52578"/>
                  </a:lnTo>
                  <a:cubicBezTo>
                    <a:pt x="447675" y="43942"/>
                    <a:pt x="468884" y="36322"/>
                    <a:pt x="490601" y="29718"/>
                  </a:cubicBezTo>
                  <a:cubicBezTo>
                    <a:pt x="512317" y="23114"/>
                    <a:pt x="534162" y="17653"/>
                    <a:pt x="556387" y="13208"/>
                  </a:cubicBezTo>
                  <a:lnTo>
                    <a:pt x="557403" y="18415"/>
                  </a:lnTo>
                  <a:lnTo>
                    <a:pt x="556387" y="13208"/>
                  </a:lnTo>
                  <a:cubicBezTo>
                    <a:pt x="578612" y="8762"/>
                    <a:pt x="600964" y="5461"/>
                    <a:pt x="623442" y="3302"/>
                  </a:cubicBezTo>
                  <a:lnTo>
                    <a:pt x="623951" y="8636"/>
                  </a:lnTo>
                  <a:lnTo>
                    <a:pt x="623442" y="3302"/>
                  </a:lnTo>
                  <a:cubicBezTo>
                    <a:pt x="645922" y="1015"/>
                    <a:pt x="668528" y="0"/>
                    <a:pt x="691261" y="0"/>
                  </a:cubicBezTo>
                  <a:lnTo>
                    <a:pt x="691261" y="5334"/>
                  </a:lnTo>
                  <a:lnTo>
                    <a:pt x="691261" y="0"/>
                  </a:lnTo>
                  <a:cubicBezTo>
                    <a:pt x="713866" y="0"/>
                    <a:pt x="736473" y="1143"/>
                    <a:pt x="759078" y="3302"/>
                  </a:cubicBezTo>
                  <a:lnTo>
                    <a:pt x="758571" y="8636"/>
                  </a:lnTo>
                  <a:lnTo>
                    <a:pt x="759078" y="3302"/>
                  </a:lnTo>
                  <a:cubicBezTo>
                    <a:pt x="781558" y="5461"/>
                    <a:pt x="804037" y="8890"/>
                    <a:pt x="826135" y="13208"/>
                  </a:cubicBezTo>
                  <a:lnTo>
                    <a:pt x="825118" y="18415"/>
                  </a:lnTo>
                  <a:lnTo>
                    <a:pt x="826135" y="13208"/>
                  </a:lnTo>
                  <a:cubicBezTo>
                    <a:pt x="848360" y="17653"/>
                    <a:pt x="870330" y="23114"/>
                    <a:pt x="891921" y="29718"/>
                  </a:cubicBezTo>
                  <a:cubicBezTo>
                    <a:pt x="913638" y="36322"/>
                    <a:pt x="934847" y="43942"/>
                    <a:pt x="955802" y="52578"/>
                  </a:cubicBezTo>
                  <a:lnTo>
                    <a:pt x="953770" y="57531"/>
                  </a:lnTo>
                  <a:lnTo>
                    <a:pt x="955802" y="52578"/>
                  </a:lnTo>
                  <a:cubicBezTo>
                    <a:pt x="976756" y="61214"/>
                    <a:pt x="997203" y="70865"/>
                    <a:pt x="1017142" y="81533"/>
                  </a:cubicBezTo>
                  <a:cubicBezTo>
                    <a:pt x="1037081" y="92201"/>
                    <a:pt x="1056513" y="103885"/>
                    <a:pt x="1075309" y="116458"/>
                  </a:cubicBezTo>
                  <a:lnTo>
                    <a:pt x="1072388" y="120903"/>
                  </a:lnTo>
                  <a:lnTo>
                    <a:pt x="1075309" y="116458"/>
                  </a:lnTo>
                  <a:cubicBezTo>
                    <a:pt x="1094104" y="129031"/>
                    <a:pt x="1112265" y="142493"/>
                    <a:pt x="1129791" y="156844"/>
                  </a:cubicBezTo>
                  <a:lnTo>
                    <a:pt x="1126363" y="161035"/>
                  </a:lnTo>
                  <a:lnTo>
                    <a:pt x="1129791" y="156844"/>
                  </a:lnTo>
                  <a:cubicBezTo>
                    <a:pt x="1147317" y="171195"/>
                    <a:pt x="1164081" y="186435"/>
                    <a:pt x="1180084" y="202437"/>
                  </a:cubicBezTo>
                  <a:lnTo>
                    <a:pt x="1176274" y="206247"/>
                  </a:lnTo>
                  <a:lnTo>
                    <a:pt x="1180084" y="202437"/>
                  </a:lnTo>
                  <a:cubicBezTo>
                    <a:pt x="1196086" y="218439"/>
                    <a:pt x="1211326" y="235203"/>
                    <a:pt x="1225677" y="252729"/>
                  </a:cubicBezTo>
                  <a:lnTo>
                    <a:pt x="1221486" y="256158"/>
                  </a:lnTo>
                  <a:lnTo>
                    <a:pt x="1225677" y="252729"/>
                  </a:lnTo>
                  <a:cubicBezTo>
                    <a:pt x="1240028" y="270255"/>
                    <a:pt x="1253490" y="288416"/>
                    <a:pt x="1266063" y="307212"/>
                  </a:cubicBezTo>
                  <a:lnTo>
                    <a:pt x="1261617" y="310133"/>
                  </a:lnTo>
                  <a:lnTo>
                    <a:pt x="1266063" y="307212"/>
                  </a:lnTo>
                  <a:cubicBezTo>
                    <a:pt x="1278636" y="326008"/>
                    <a:pt x="1290320" y="345439"/>
                    <a:pt x="1300988" y="365378"/>
                  </a:cubicBezTo>
                  <a:cubicBezTo>
                    <a:pt x="1311655" y="385318"/>
                    <a:pt x="1321308" y="405764"/>
                    <a:pt x="1329943" y="426720"/>
                  </a:cubicBezTo>
                  <a:cubicBezTo>
                    <a:pt x="1338579" y="447675"/>
                    <a:pt x="1346200" y="468883"/>
                    <a:pt x="1352803" y="490601"/>
                  </a:cubicBezTo>
                  <a:cubicBezTo>
                    <a:pt x="1359408" y="512318"/>
                    <a:pt x="1364868" y="534162"/>
                    <a:pt x="1369314" y="556387"/>
                  </a:cubicBezTo>
                  <a:lnTo>
                    <a:pt x="1364106" y="557402"/>
                  </a:lnTo>
                  <a:lnTo>
                    <a:pt x="1369314" y="556387"/>
                  </a:lnTo>
                  <a:cubicBezTo>
                    <a:pt x="1373759" y="578612"/>
                    <a:pt x="1377061" y="600964"/>
                    <a:pt x="1379220" y="623443"/>
                  </a:cubicBezTo>
                  <a:lnTo>
                    <a:pt x="1373886" y="623951"/>
                  </a:lnTo>
                  <a:lnTo>
                    <a:pt x="1379220" y="623443"/>
                  </a:lnTo>
                  <a:cubicBezTo>
                    <a:pt x="1381505" y="645921"/>
                    <a:pt x="1382522" y="668527"/>
                    <a:pt x="1382522" y="691261"/>
                  </a:cubicBezTo>
                  <a:lnTo>
                    <a:pt x="1377188" y="691261"/>
                  </a:lnTo>
                  <a:lnTo>
                    <a:pt x="1382522" y="691261"/>
                  </a:lnTo>
                  <a:moveTo>
                    <a:pt x="1371853" y="691261"/>
                  </a:moveTo>
                  <a:cubicBezTo>
                    <a:pt x="1371853" y="668908"/>
                    <a:pt x="1370711" y="646683"/>
                    <a:pt x="1368552" y="624586"/>
                  </a:cubicBezTo>
                  <a:cubicBezTo>
                    <a:pt x="1366392" y="602361"/>
                    <a:pt x="1363090" y="580389"/>
                    <a:pt x="1358773" y="558545"/>
                  </a:cubicBezTo>
                  <a:cubicBezTo>
                    <a:pt x="1354454" y="536701"/>
                    <a:pt x="1348993" y="515112"/>
                    <a:pt x="1342516" y="493776"/>
                  </a:cubicBezTo>
                  <a:lnTo>
                    <a:pt x="1347597" y="492251"/>
                  </a:lnTo>
                  <a:lnTo>
                    <a:pt x="1342516" y="493776"/>
                  </a:lnTo>
                  <a:cubicBezTo>
                    <a:pt x="1336040" y="472439"/>
                    <a:pt x="1328547" y="451484"/>
                    <a:pt x="1320038" y="430911"/>
                  </a:cubicBezTo>
                  <a:lnTo>
                    <a:pt x="1324990" y="428878"/>
                  </a:lnTo>
                  <a:lnTo>
                    <a:pt x="1320038" y="430911"/>
                  </a:lnTo>
                  <a:cubicBezTo>
                    <a:pt x="1311528" y="410337"/>
                    <a:pt x="1302003" y="390144"/>
                    <a:pt x="1291463" y="370586"/>
                  </a:cubicBezTo>
                  <a:lnTo>
                    <a:pt x="1296162" y="368045"/>
                  </a:lnTo>
                  <a:lnTo>
                    <a:pt x="1291463" y="370586"/>
                  </a:lnTo>
                  <a:cubicBezTo>
                    <a:pt x="1280922" y="350901"/>
                    <a:pt x="1269491" y="331851"/>
                    <a:pt x="1257173" y="313308"/>
                  </a:cubicBezTo>
                  <a:cubicBezTo>
                    <a:pt x="1244853" y="294766"/>
                    <a:pt x="1231518" y="276859"/>
                    <a:pt x="1217422" y="259714"/>
                  </a:cubicBezTo>
                  <a:cubicBezTo>
                    <a:pt x="1203325" y="242442"/>
                    <a:pt x="1188339" y="225932"/>
                    <a:pt x="1172590" y="210184"/>
                  </a:cubicBezTo>
                  <a:cubicBezTo>
                    <a:pt x="1156842" y="194436"/>
                    <a:pt x="1140333" y="179450"/>
                    <a:pt x="1123061" y="165353"/>
                  </a:cubicBezTo>
                  <a:cubicBezTo>
                    <a:pt x="1105789" y="151256"/>
                    <a:pt x="1088009" y="137921"/>
                    <a:pt x="1069466" y="125602"/>
                  </a:cubicBezTo>
                  <a:cubicBezTo>
                    <a:pt x="1050925" y="113156"/>
                    <a:pt x="1031875" y="101726"/>
                    <a:pt x="1012190" y="91312"/>
                  </a:cubicBezTo>
                  <a:lnTo>
                    <a:pt x="1014729" y="86614"/>
                  </a:lnTo>
                  <a:lnTo>
                    <a:pt x="1012190" y="91312"/>
                  </a:lnTo>
                  <a:cubicBezTo>
                    <a:pt x="992504" y="80772"/>
                    <a:pt x="972439" y="71247"/>
                    <a:pt x="951865" y="62737"/>
                  </a:cubicBezTo>
                  <a:cubicBezTo>
                    <a:pt x="931290" y="54228"/>
                    <a:pt x="910336" y="46736"/>
                    <a:pt x="889000" y="40259"/>
                  </a:cubicBezTo>
                  <a:lnTo>
                    <a:pt x="890524" y="35178"/>
                  </a:lnTo>
                  <a:lnTo>
                    <a:pt x="889000" y="40259"/>
                  </a:lnTo>
                  <a:cubicBezTo>
                    <a:pt x="867664" y="33781"/>
                    <a:pt x="846074" y="28321"/>
                    <a:pt x="824229" y="24003"/>
                  </a:cubicBezTo>
                  <a:cubicBezTo>
                    <a:pt x="802386" y="19684"/>
                    <a:pt x="780288" y="16383"/>
                    <a:pt x="758190" y="14224"/>
                  </a:cubicBezTo>
                  <a:cubicBezTo>
                    <a:pt x="735965" y="12065"/>
                    <a:pt x="713740" y="10922"/>
                    <a:pt x="691515" y="10922"/>
                  </a:cubicBezTo>
                  <a:cubicBezTo>
                    <a:pt x="669163" y="10922"/>
                    <a:pt x="646938" y="12065"/>
                    <a:pt x="624840" y="14224"/>
                  </a:cubicBezTo>
                  <a:cubicBezTo>
                    <a:pt x="602615" y="16383"/>
                    <a:pt x="580643" y="19684"/>
                    <a:pt x="558800" y="24003"/>
                  </a:cubicBezTo>
                  <a:cubicBezTo>
                    <a:pt x="536955" y="28321"/>
                    <a:pt x="515366" y="33781"/>
                    <a:pt x="494029" y="40259"/>
                  </a:cubicBezTo>
                  <a:lnTo>
                    <a:pt x="492505" y="35178"/>
                  </a:lnTo>
                  <a:lnTo>
                    <a:pt x="494029" y="40259"/>
                  </a:lnTo>
                  <a:cubicBezTo>
                    <a:pt x="472693" y="46736"/>
                    <a:pt x="451739" y="54228"/>
                    <a:pt x="431165" y="62737"/>
                  </a:cubicBezTo>
                  <a:cubicBezTo>
                    <a:pt x="410591" y="71247"/>
                    <a:pt x="390398" y="80772"/>
                    <a:pt x="370840" y="91312"/>
                  </a:cubicBezTo>
                  <a:lnTo>
                    <a:pt x="368300" y="86614"/>
                  </a:lnTo>
                  <a:lnTo>
                    <a:pt x="370840" y="91312"/>
                  </a:lnTo>
                  <a:cubicBezTo>
                    <a:pt x="351154" y="101853"/>
                    <a:pt x="332104" y="113283"/>
                    <a:pt x="313563" y="125602"/>
                  </a:cubicBezTo>
                  <a:cubicBezTo>
                    <a:pt x="295021" y="137921"/>
                    <a:pt x="277114" y="151256"/>
                    <a:pt x="259968" y="165353"/>
                  </a:cubicBezTo>
                  <a:cubicBezTo>
                    <a:pt x="242697" y="179450"/>
                    <a:pt x="226187" y="194436"/>
                    <a:pt x="210439" y="210184"/>
                  </a:cubicBezTo>
                  <a:cubicBezTo>
                    <a:pt x="194691" y="225932"/>
                    <a:pt x="179704" y="242442"/>
                    <a:pt x="165608" y="259714"/>
                  </a:cubicBezTo>
                  <a:lnTo>
                    <a:pt x="161416" y="256285"/>
                  </a:lnTo>
                  <a:lnTo>
                    <a:pt x="165608" y="259714"/>
                  </a:lnTo>
                  <a:cubicBezTo>
                    <a:pt x="151511" y="276986"/>
                    <a:pt x="138176" y="294766"/>
                    <a:pt x="125856" y="313308"/>
                  </a:cubicBezTo>
                  <a:cubicBezTo>
                    <a:pt x="113411" y="331851"/>
                    <a:pt x="101980" y="350901"/>
                    <a:pt x="91566" y="370586"/>
                  </a:cubicBezTo>
                  <a:lnTo>
                    <a:pt x="86867" y="368045"/>
                  </a:lnTo>
                  <a:lnTo>
                    <a:pt x="91566" y="370586"/>
                  </a:lnTo>
                  <a:cubicBezTo>
                    <a:pt x="81026" y="390270"/>
                    <a:pt x="71501" y="410337"/>
                    <a:pt x="62991" y="430911"/>
                  </a:cubicBezTo>
                  <a:lnTo>
                    <a:pt x="58039" y="428878"/>
                  </a:lnTo>
                  <a:lnTo>
                    <a:pt x="62991" y="430911"/>
                  </a:lnTo>
                  <a:cubicBezTo>
                    <a:pt x="54483" y="451484"/>
                    <a:pt x="46990" y="472439"/>
                    <a:pt x="40513" y="493776"/>
                  </a:cubicBezTo>
                  <a:lnTo>
                    <a:pt x="35433" y="492251"/>
                  </a:lnTo>
                  <a:lnTo>
                    <a:pt x="40513" y="493776"/>
                  </a:lnTo>
                  <a:cubicBezTo>
                    <a:pt x="34036" y="515112"/>
                    <a:pt x="28702" y="536701"/>
                    <a:pt x="24256" y="558545"/>
                  </a:cubicBezTo>
                  <a:lnTo>
                    <a:pt x="19050" y="557530"/>
                  </a:lnTo>
                  <a:lnTo>
                    <a:pt x="24256" y="558545"/>
                  </a:lnTo>
                  <a:cubicBezTo>
                    <a:pt x="19939" y="580389"/>
                    <a:pt x="16637" y="602488"/>
                    <a:pt x="14478" y="624586"/>
                  </a:cubicBezTo>
                  <a:cubicBezTo>
                    <a:pt x="12318" y="646811"/>
                    <a:pt x="11176" y="669036"/>
                    <a:pt x="11176" y="691261"/>
                  </a:cubicBezTo>
                  <a:cubicBezTo>
                    <a:pt x="11176" y="713612"/>
                    <a:pt x="12318" y="735837"/>
                    <a:pt x="14478" y="757935"/>
                  </a:cubicBezTo>
                  <a:cubicBezTo>
                    <a:pt x="16637" y="780160"/>
                    <a:pt x="19939" y="802131"/>
                    <a:pt x="24256" y="823975"/>
                  </a:cubicBezTo>
                  <a:lnTo>
                    <a:pt x="19050" y="824991"/>
                  </a:lnTo>
                  <a:lnTo>
                    <a:pt x="24256" y="823975"/>
                  </a:lnTo>
                  <a:cubicBezTo>
                    <a:pt x="28575" y="845819"/>
                    <a:pt x="34036" y="867409"/>
                    <a:pt x="40513" y="888745"/>
                  </a:cubicBezTo>
                  <a:lnTo>
                    <a:pt x="35433" y="890269"/>
                  </a:lnTo>
                  <a:lnTo>
                    <a:pt x="40513" y="888745"/>
                  </a:lnTo>
                  <a:cubicBezTo>
                    <a:pt x="46990" y="910081"/>
                    <a:pt x="54483" y="931036"/>
                    <a:pt x="62991" y="951610"/>
                  </a:cubicBezTo>
                  <a:cubicBezTo>
                    <a:pt x="71501" y="972184"/>
                    <a:pt x="81026" y="992377"/>
                    <a:pt x="91566" y="1011935"/>
                  </a:cubicBezTo>
                  <a:lnTo>
                    <a:pt x="86867" y="1014475"/>
                  </a:lnTo>
                  <a:lnTo>
                    <a:pt x="91566" y="1011935"/>
                  </a:lnTo>
                  <a:cubicBezTo>
                    <a:pt x="102108" y="1031620"/>
                    <a:pt x="113538" y="1050670"/>
                    <a:pt x="125856" y="1069212"/>
                  </a:cubicBezTo>
                  <a:cubicBezTo>
                    <a:pt x="138303" y="1087754"/>
                    <a:pt x="151511" y="1105661"/>
                    <a:pt x="165608" y="1122806"/>
                  </a:cubicBezTo>
                  <a:lnTo>
                    <a:pt x="161416" y="1126235"/>
                  </a:lnTo>
                  <a:lnTo>
                    <a:pt x="165608" y="1122806"/>
                  </a:lnTo>
                  <a:cubicBezTo>
                    <a:pt x="179704" y="1140078"/>
                    <a:pt x="194691" y="1156588"/>
                    <a:pt x="210439" y="1172336"/>
                  </a:cubicBezTo>
                  <a:cubicBezTo>
                    <a:pt x="226187" y="1188084"/>
                    <a:pt x="242697" y="1203070"/>
                    <a:pt x="259968" y="1217167"/>
                  </a:cubicBezTo>
                  <a:lnTo>
                    <a:pt x="256540" y="1221358"/>
                  </a:lnTo>
                  <a:lnTo>
                    <a:pt x="259968" y="1217167"/>
                  </a:lnTo>
                  <a:cubicBezTo>
                    <a:pt x="277241" y="1231264"/>
                    <a:pt x="295021" y="1244599"/>
                    <a:pt x="313563" y="1256918"/>
                  </a:cubicBezTo>
                  <a:lnTo>
                    <a:pt x="310641" y="1261363"/>
                  </a:lnTo>
                  <a:lnTo>
                    <a:pt x="313563" y="1256918"/>
                  </a:lnTo>
                  <a:cubicBezTo>
                    <a:pt x="332104" y="1269364"/>
                    <a:pt x="351154" y="1280794"/>
                    <a:pt x="370840" y="1291208"/>
                  </a:cubicBezTo>
                  <a:lnTo>
                    <a:pt x="368300" y="1295907"/>
                  </a:lnTo>
                  <a:lnTo>
                    <a:pt x="370840" y="1291208"/>
                  </a:lnTo>
                  <a:cubicBezTo>
                    <a:pt x="390525" y="1301749"/>
                    <a:pt x="410591" y="1311274"/>
                    <a:pt x="431165" y="1319783"/>
                  </a:cubicBezTo>
                  <a:cubicBezTo>
                    <a:pt x="451739" y="1328292"/>
                    <a:pt x="472693" y="1335785"/>
                    <a:pt x="494029" y="1342262"/>
                  </a:cubicBezTo>
                  <a:lnTo>
                    <a:pt x="492505" y="1347342"/>
                  </a:lnTo>
                  <a:lnTo>
                    <a:pt x="494029" y="1342262"/>
                  </a:lnTo>
                  <a:cubicBezTo>
                    <a:pt x="515366" y="1348739"/>
                    <a:pt x="536955" y="1354073"/>
                    <a:pt x="558800" y="1358518"/>
                  </a:cubicBezTo>
                  <a:lnTo>
                    <a:pt x="557784" y="1363725"/>
                  </a:lnTo>
                  <a:lnTo>
                    <a:pt x="558800" y="1358518"/>
                  </a:lnTo>
                  <a:cubicBezTo>
                    <a:pt x="580643" y="1362836"/>
                    <a:pt x="602741" y="1366138"/>
                    <a:pt x="624840" y="1368297"/>
                  </a:cubicBezTo>
                  <a:lnTo>
                    <a:pt x="624331" y="1373631"/>
                  </a:lnTo>
                  <a:lnTo>
                    <a:pt x="624840" y="1368297"/>
                  </a:lnTo>
                  <a:cubicBezTo>
                    <a:pt x="647065" y="1370456"/>
                    <a:pt x="669290" y="1371599"/>
                    <a:pt x="691515" y="1371599"/>
                  </a:cubicBezTo>
                  <a:cubicBezTo>
                    <a:pt x="713866" y="1371599"/>
                    <a:pt x="736091" y="1370456"/>
                    <a:pt x="758190" y="1368297"/>
                  </a:cubicBezTo>
                  <a:cubicBezTo>
                    <a:pt x="780415" y="1366138"/>
                    <a:pt x="802386" y="1362836"/>
                    <a:pt x="824229" y="1358518"/>
                  </a:cubicBezTo>
                  <a:lnTo>
                    <a:pt x="825246" y="1363725"/>
                  </a:lnTo>
                  <a:lnTo>
                    <a:pt x="824229" y="1358518"/>
                  </a:lnTo>
                  <a:cubicBezTo>
                    <a:pt x="846074" y="1354200"/>
                    <a:pt x="867664" y="1348739"/>
                    <a:pt x="889000" y="1342262"/>
                  </a:cubicBezTo>
                  <a:lnTo>
                    <a:pt x="890524" y="1347342"/>
                  </a:lnTo>
                  <a:lnTo>
                    <a:pt x="889000" y="1342262"/>
                  </a:lnTo>
                  <a:cubicBezTo>
                    <a:pt x="910336" y="1335785"/>
                    <a:pt x="931290" y="1328292"/>
                    <a:pt x="951865" y="1319783"/>
                  </a:cubicBezTo>
                  <a:cubicBezTo>
                    <a:pt x="972439" y="1311274"/>
                    <a:pt x="992631" y="1301749"/>
                    <a:pt x="1012190" y="1291208"/>
                  </a:cubicBezTo>
                  <a:lnTo>
                    <a:pt x="1014729" y="1295907"/>
                  </a:lnTo>
                  <a:lnTo>
                    <a:pt x="1012190" y="1291208"/>
                  </a:lnTo>
                  <a:cubicBezTo>
                    <a:pt x="1031875" y="1280667"/>
                    <a:pt x="1050925" y="1269237"/>
                    <a:pt x="1069466" y="1256918"/>
                  </a:cubicBezTo>
                  <a:cubicBezTo>
                    <a:pt x="1088009" y="1244599"/>
                    <a:pt x="1105915" y="1231264"/>
                    <a:pt x="1123061" y="1217167"/>
                  </a:cubicBezTo>
                  <a:lnTo>
                    <a:pt x="1126490" y="1221358"/>
                  </a:lnTo>
                  <a:lnTo>
                    <a:pt x="1123061" y="1217167"/>
                  </a:lnTo>
                  <a:cubicBezTo>
                    <a:pt x="1140333" y="1203070"/>
                    <a:pt x="1156842" y="1188084"/>
                    <a:pt x="1172590" y="1172336"/>
                  </a:cubicBezTo>
                  <a:cubicBezTo>
                    <a:pt x="1188339" y="1156588"/>
                    <a:pt x="1203325" y="1140078"/>
                    <a:pt x="1217422" y="1122806"/>
                  </a:cubicBezTo>
                  <a:cubicBezTo>
                    <a:pt x="1231518" y="1105534"/>
                    <a:pt x="1244853" y="1087754"/>
                    <a:pt x="1257173" y="1069212"/>
                  </a:cubicBezTo>
                  <a:lnTo>
                    <a:pt x="1261617" y="1072133"/>
                  </a:lnTo>
                  <a:lnTo>
                    <a:pt x="1257173" y="1069212"/>
                  </a:lnTo>
                  <a:cubicBezTo>
                    <a:pt x="1269618" y="1050670"/>
                    <a:pt x="1281049" y="1031620"/>
                    <a:pt x="1291463" y="1011935"/>
                  </a:cubicBezTo>
                  <a:lnTo>
                    <a:pt x="1296162" y="1014475"/>
                  </a:lnTo>
                  <a:lnTo>
                    <a:pt x="1291463" y="1011935"/>
                  </a:lnTo>
                  <a:cubicBezTo>
                    <a:pt x="1302003" y="992250"/>
                    <a:pt x="1311528" y="972184"/>
                    <a:pt x="1320038" y="951610"/>
                  </a:cubicBezTo>
                  <a:cubicBezTo>
                    <a:pt x="1328547" y="931036"/>
                    <a:pt x="1336040" y="910081"/>
                    <a:pt x="1342516" y="888745"/>
                  </a:cubicBezTo>
                  <a:lnTo>
                    <a:pt x="1347597" y="890269"/>
                  </a:lnTo>
                  <a:lnTo>
                    <a:pt x="1342516" y="888745"/>
                  </a:lnTo>
                  <a:cubicBezTo>
                    <a:pt x="1348993" y="867409"/>
                    <a:pt x="1354454" y="845819"/>
                    <a:pt x="1358773" y="823975"/>
                  </a:cubicBezTo>
                  <a:cubicBezTo>
                    <a:pt x="1363090" y="802131"/>
                    <a:pt x="1366392" y="780033"/>
                    <a:pt x="1368552" y="757935"/>
                  </a:cubicBezTo>
                  <a:cubicBezTo>
                    <a:pt x="1370711" y="735710"/>
                    <a:pt x="1371853" y="713485"/>
                    <a:pt x="1371853" y="691261"/>
                  </a:cubicBezTo>
                  <a:close/>
                </a:path>
              </a:pathLst>
            </a:custGeom>
            <a:solidFill>
              <a:srgbClr val="6D912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399653" y="4134230"/>
              <a:ext cx="1929637" cy="1322324"/>
            </a:xfrm>
            <a:custGeom>
              <a:avLst/>
              <a:gdLst/>
              <a:ahLst/>
              <a:cxnLst/>
              <a:rect r="r" b="b" t="t" l="l"/>
              <a:pathLst>
                <a:path h="1322324" w="1929637">
                  <a:moveTo>
                    <a:pt x="243840" y="0"/>
                  </a:moveTo>
                  <a:cubicBezTo>
                    <a:pt x="238252" y="0"/>
                    <a:pt x="232664" y="381"/>
                    <a:pt x="227330" y="1016"/>
                  </a:cubicBezTo>
                  <a:lnTo>
                    <a:pt x="227330" y="0"/>
                  </a:lnTo>
                  <a:lnTo>
                    <a:pt x="0" y="0"/>
                  </a:lnTo>
                  <a:lnTo>
                    <a:pt x="111634" y="140589"/>
                  </a:lnTo>
                  <a:lnTo>
                    <a:pt x="111634" y="1190117"/>
                  </a:lnTo>
                  <a:cubicBezTo>
                    <a:pt x="111634" y="1263142"/>
                    <a:pt x="170815" y="1322324"/>
                    <a:pt x="243840" y="1322324"/>
                  </a:cubicBezTo>
                  <a:lnTo>
                    <a:pt x="1797431" y="1322324"/>
                  </a:lnTo>
                  <a:cubicBezTo>
                    <a:pt x="1870456" y="1322324"/>
                    <a:pt x="1929637" y="1263142"/>
                    <a:pt x="1929637" y="1190117"/>
                  </a:cubicBezTo>
                  <a:lnTo>
                    <a:pt x="1929637" y="132207"/>
                  </a:lnTo>
                  <a:cubicBezTo>
                    <a:pt x="1929637" y="59182"/>
                    <a:pt x="1870456" y="0"/>
                    <a:pt x="1797431" y="0"/>
                  </a:cubicBezTo>
                  <a:lnTo>
                    <a:pt x="243840" y="0"/>
                  </a:lnTo>
                </a:path>
              </a:pathLst>
            </a:custGeom>
            <a:solidFill>
              <a:srgbClr val="65900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394301" y="4128642"/>
              <a:ext cx="1940324" cy="1333119"/>
            </a:xfrm>
            <a:custGeom>
              <a:avLst/>
              <a:gdLst/>
              <a:ahLst/>
              <a:cxnLst/>
              <a:rect r="r" b="b" t="t" l="l"/>
              <a:pathLst>
                <a:path h="1333119" w="1940324">
                  <a:moveTo>
                    <a:pt x="249192" y="10922"/>
                  </a:moveTo>
                  <a:cubicBezTo>
                    <a:pt x="243859" y="10922"/>
                    <a:pt x="238524" y="11303"/>
                    <a:pt x="233317" y="11938"/>
                  </a:cubicBezTo>
                  <a:cubicBezTo>
                    <a:pt x="231793" y="12065"/>
                    <a:pt x="230269" y="11684"/>
                    <a:pt x="229126" y="10669"/>
                  </a:cubicBezTo>
                  <a:cubicBezTo>
                    <a:pt x="227984" y="9652"/>
                    <a:pt x="227349" y="8128"/>
                    <a:pt x="227349" y="6604"/>
                  </a:cubicBezTo>
                  <a:lnTo>
                    <a:pt x="227349" y="5588"/>
                  </a:lnTo>
                  <a:lnTo>
                    <a:pt x="232682" y="5588"/>
                  </a:lnTo>
                  <a:lnTo>
                    <a:pt x="232682" y="10922"/>
                  </a:lnTo>
                  <a:lnTo>
                    <a:pt x="5352" y="10922"/>
                  </a:lnTo>
                  <a:lnTo>
                    <a:pt x="5352" y="5588"/>
                  </a:lnTo>
                  <a:lnTo>
                    <a:pt x="9543" y="2286"/>
                  </a:lnTo>
                  <a:lnTo>
                    <a:pt x="121176" y="142876"/>
                  </a:lnTo>
                  <a:cubicBezTo>
                    <a:pt x="121938" y="143764"/>
                    <a:pt x="122319" y="145034"/>
                    <a:pt x="122319" y="146177"/>
                  </a:cubicBezTo>
                  <a:lnTo>
                    <a:pt x="122319" y="1195705"/>
                  </a:lnTo>
                  <a:lnTo>
                    <a:pt x="116986" y="1195705"/>
                  </a:lnTo>
                  <a:lnTo>
                    <a:pt x="122319" y="1195705"/>
                  </a:lnTo>
                  <a:cubicBezTo>
                    <a:pt x="122319" y="1265809"/>
                    <a:pt x="179088" y="1322578"/>
                    <a:pt x="249192" y="1322578"/>
                  </a:cubicBezTo>
                  <a:lnTo>
                    <a:pt x="249192" y="1327913"/>
                  </a:lnTo>
                  <a:lnTo>
                    <a:pt x="249192" y="1322578"/>
                  </a:lnTo>
                  <a:lnTo>
                    <a:pt x="1802783" y="1322578"/>
                  </a:lnTo>
                  <a:lnTo>
                    <a:pt x="1802783" y="1327913"/>
                  </a:lnTo>
                  <a:lnTo>
                    <a:pt x="1802783" y="1322578"/>
                  </a:lnTo>
                  <a:cubicBezTo>
                    <a:pt x="1872887" y="1322578"/>
                    <a:pt x="1929656" y="1265809"/>
                    <a:pt x="1929656" y="1195705"/>
                  </a:cubicBezTo>
                  <a:lnTo>
                    <a:pt x="1934989" y="1195705"/>
                  </a:lnTo>
                  <a:lnTo>
                    <a:pt x="1929656" y="1195705"/>
                  </a:lnTo>
                  <a:lnTo>
                    <a:pt x="1929656" y="137795"/>
                  </a:lnTo>
                  <a:lnTo>
                    <a:pt x="1934989" y="137795"/>
                  </a:lnTo>
                  <a:lnTo>
                    <a:pt x="1929656" y="137795"/>
                  </a:lnTo>
                  <a:cubicBezTo>
                    <a:pt x="1929656" y="67691"/>
                    <a:pt x="1872887" y="10922"/>
                    <a:pt x="1802783" y="10922"/>
                  </a:cubicBezTo>
                  <a:lnTo>
                    <a:pt x="1802783" y="5588"/>
                  </a:lnTo>
                  <a:lnTo>
                    <a:pt x="1802783" y="10922"/>
                  </a:lnTo>
                  <a:lnTo>
                    <a:pt x="249192" y="10922"/>
                  </a:lnTo>
                  <a:lnTo>
                    <a:pt x="249192" y="5588"/>
                  </a:lnTo>
                  <a:lnTo>
                    <a:pt x="249192" y="10922"/>
                  </a:lnTo>
                  <a:moveTo>
                    <a:pt x="249192" y="254"/>
                  </a:moveTo>
                  <a:lnTo>
                    <a:pt x="1802783" y="254"/>
                  </a:lnTo>
                  <a:cubicBezTo>
                    <a:pt x="1878729" y="254"/>
                    <a:pt x="1940324" y="61849"/>
                    <a:pt x="1940324" y="137795"/>
                  </a:cubicBezTo>
                  <a:lnTo>
                    <a:pt x="1940324" y="1195578"/>
                  </a:lnTo>
                  <a:cubicBezTo>
                    <a:pt x="1940324" y="1271524"/>
                    <a:pt x="1878729" y="1333119"/>
                    <a:pt x="1802783" y="1333119"/>
                  </a:cubicBezTo>
                  <a:lnTo>
                    <a:pt x="249192" y="1333119"/>
                  </a:lnTo>
                  <a:cubicBezTo>
                    <a:pt x="173247" y="1333119"/>
                    <a:pt x="111651" y="1271524"/>
                    <a:pt x="111651" y="1195578"/>
                  </a:cubicBezTo>
                  <a:lnTo>
                    <a:pt x="111651" y="146050"/>
                  </a:lnTo>
                  <a:lnTo>
                    <a:pt x="116986" y="146050"/>
                  </a:lnTo>
                  <a:lnTo>
                    <a:pt x="112794" y="149352"/>
                  </a:lnTo>
                  <a:lnTo>
                    <a:pt x="1161" y="8763"/>
                  </a:lnTo>
                  <a:cubicBezTo>
                    <a:pt x="-109" y="7112"/>
                    <a:pt x="-363" y="4953"/>
                    <a:pt x="526" y="3048"/>
                  </a:cubicBezTo>
                  <a:cubicBezTo>
                    <a:pt x="1415" y="1143"/>
                    <a:pt x="3321" y="0"/>
                    <a:pt x="5352" y="0"/>
                  </a:cubicBezTo>
                  <a:lnTo>
                    <a:pt x="232682" y="0"/>
                  </a:lnTo>
                  <a:cubicBezTo>
                    <a:pt x="235603" y="0"/>
                    <a:pt x="238016" y="2413"/>
                    <a:pt x="238016" y="5334"/>
                  </a:cubicBezTo>
                  <a:lnTo>
                    <a:pt x="238016" y="6350"/>
                  </a:lnTo>
                  <a:lnTo>
                    <a:pt x="232682" y="6350"/>
                  </a:lnTo>
                  <a:lnTo>
                    <a:pt x="232048" y="1016"/>
                  </a:lnTo>
                  <a:cubicBezTo>
                    <a:pt x="237636" y="254"/>
                    <a:pt x="243477" y="0"/>
                    <a:pt x="249192" y="0"/>
                  </a:cubicBezTo>
                  <a:close/>
                </a:path>
              </a:pathLst>
            </a:custGeom>
            <a:solidFill>
              <a:srgbClr val="6D912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971542" y="4134230"/>
              <a:ext cx="1929766" cy="1322324"/>
            </a:xfrm>
            <a:custGeom>
              <a:avLst/>
              <a:gdLst/>
              <a:ahLst/>
              <a:cxnLst/>
              <a:rect r="r" b="b" t="t" l="l"/>
              <a:pathLst>
                <a:path h="1322324" w="1929766">
                  <a:moveTo>
                    <a:pt x="1685925" y="0"/>
                  </a:moveTo>
                  <a:cubicBezTo>
                    <a:pt x="1691513" y="0"/>
                    <a:pt x="1697101" y="381"/>
                    <a:pt x="1702435" y="1016"/>
                  </a:cubicBezTo>
                  <a:lnTo>
                    <a:pt x="1702435" y="0"/>
                  </a:lnTo>
                  <a:lnTo>
                    <a:pt x="1929765" y="0"/>
                  </a:lnTo>
                  <a:lnTo>
                    <a:pt x="1818132" y="140589"/>
                  </a:lnTo>
                  <a:lnTo>
                    <a:pt x="1818132" y="1190117"/>
                  </a:lnTo>
                  <a:cubicBezTo>
                    <a:pt x="1818132" y="1263142"/>
                    <a:pt x="1758950" y="1322324"/>
                    <a:pt x="1685925" y="1322324"/>
                  </a:cubicBezTo>
                  <a:lnTo>
                    <a:pt x="132207" y="1322324"/>
                  </a:lnTo>
                  <a:cubicBezTo>
                    <a:pt x="59182" y="1322324"/>
                    <a:pt x="0" y="1263142"/>
                    <a:pt x="0" y="1190117"/>
                  </a:cubicBezTo>
                  <a:lnTo>
                    <a:pt x="0" y="132207"/>
                  </a:lnTo>
                  <a:cubicBezTo>
                    <a:pt x="0" y="59182"/>
                    <a:pt x="59182" y="0"/>
                    <a:pt x="132207" y="0"/>
                  </a:cubicBezTo>
                  <a:lnTo>
                    <a:pt x="1685925" y="0"/>
                  </a:lnTo>
                </a:path>
              </a:pathLst>
            </a:custGeom>
            <a:solidFill>
              <a:srgbClr val="65900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966208" y="4128769"/>
              <a:ext cx="1940452" cy="1333119"/>
            </a:xfrm>
            <a:custGeom>
              <a:avLst/>
              <a:gdLst/>
              <a:ahLst/>
              <a:cxnLst/>
              <a:rect r="r" b="b" t="t" l="l"/>
              <a:pathLst>
                <a:path h="1333119" w="1940452">
                  <a:moveTo>
                    <a:pt x="1691259" y="0"/>
                  </a:moveTo>
                  <a:cubicBezTo>
                    <a:pt x="1697102" y="0"/>
                    <a:pt x="1702816" y="381"/>
                    <a:pt x="1708404" y="1016"/>
                  </a:cubicBezTo>
                  <a:lnTo>
                    <a:pt x="1707769" y="6350"/>
                  </a:lnTo>
                  <a:lnTo>
                    <a:pt x="1702435" y="6350"/>
                  </a:lnTo>
                  <a:lnTo>
                    <a:pt x="1702435" y="5334"/>
                  </a:lnTo>
                  <a:cubicBezTo>
                    <a:pt x="1702435" y="2413"/>
                    <a:pt x="1704848" y="0"/>
                    <a:pt x="1707769" y="0"/>
                  </a:cubicBezTo>
                  <a:lnTo>
                    <a:pt x="1935099" y="0"/>
                  </a:lnTo>
                  <a:cubicBezTo>
                    <a:pt x="1937131" y="0"/>
                    <a:pt x="1939036" y="1143"/>
                    <a:pt x="1939925" y="3048"/>
                  </a:cubicBezTo>
                  <a:cubicBezTo>
                    <a:pt x="1940815" y="4953"/>
                    <a:pt x="1940560" y="7112"/>
                    <a:pt x="1939291" y="8763"/>
                  </a:cubicBezTo>
                  <a:lnTo>
                    <a:pt x="1827657" y="149352"/>
                  </a:lnTo>
                  <a:lnTo>
                    <a:pt x="1823466" y="146050"/>
                  </a:lnTo>
                  <a:lnTo>
                    <a:pt x="1828800" y="146050"/>
                  </a:lnTo>
                  <a:lnTo>
                    <a:pt x="1828800" y="1195578"/>
                  </a:lnTo>
                  <a:lnTo>
                    <a:pt x="1823466" y="1195578"/>
                  </a:lnTo>
                  <a:lnTo>
                    <a:pt x="1828800" y="1195578"/>
                  </a:lnTo>
                  <a:cubicBezTo>
                    <a:pt x="1828800" y="1271524"/>
                    <a:pt x="1767205" y="1333119"/>
                    <a:pt x="1691259" y="1333119"/>
                  </a:cubicBezTo>
                  <a:lnTo>
                    <a:pt x="1691259" y="1327785"/>
                  </a:lnTo>
                  <a:lnTo>
                    <a:pt x="1691259" y="1333119"/>
                  </a:lnTo>
                  <a:lnTo>
                    <a:pt x="137541" y="1333119"/>
                  </a:lnTo>
                  <a:lnTo>
                    <a:pt x="137541" y="1327785"/>
                  </a:lnTo>
                  <a:lnTo>
                    <a:pt x="137541" y="1333119"/>
                  </a:lnTo>
                  <a:cubicBezTo>
                    <a:pt x="61595" y="1333119"/>
                    <a:pt x="0" y="1271524"/>
                    <a:pt x="0" y="1195578"/>
                  </a:cubicBezTo>
                  <a:lnTo>
                    <a:pt x="5334" y="1195578"/>
                  </a:lnTo>
                  <a:lnTo>
                    <a:pt x="0" y="1195578"/>
                  </a:lnTo>
                  <a:lnTo>
                    <a:pt x="0" y="137668"/>
                  </a:lnTo>
                  <a:lnTo>
                    <a:pt x="5334" y="137668"/>
                  </a:lnTo>
                  <a:lnTo>
                    <a:pt x="0" y="137668"/>
                  </a:lnTo>
                  <a:cubicBezTo>
                    <a:pt x="0" y="61722"/>
                    <a:pt x="61595" y="127"/>
                    <a:pt x="137541" y="127"/>
                  </a:cubicBezTo>
                  <a:lnTo>
                    <a:pt x="137541" y="5461"/>
                  </a:lnTo>
                  <a:lnTo>
                    <a:pt x="137541" y="127"/>
                  </a:lnTo>
                  <a:lnTo>
                    <a:pt x="1691259" y="127"/>
                  </a:lnTo>
                  <a:lnTo>
                    <a:pt x="1691259" y="5461"/>
                  </a:lnTo>
                  <a:lnTo>
                    <a:pt x="1691259" y="127"/>
                  </a:lnTo>
                  <a:moveTo>
                    <a:pt x="1691259" y="10795"/>
                  </a:moveTo>
                  <a:lnTo>
                    <a:pt x="137541" y="10795"/>
                  </a:lnTo>
                  <a:cubicBezTo>
                    <a:pt x="67437" y="10795"/>
                    <a:pt x="10668" y="67564"/>
                    <a:pt x="10668" y="137668"/>
                  </a:cubicBezTo>
                  <a:lnTo>
                    <a:pt x="10668" y="1195451"/>
                  </a:lnTo>
                  <a:cubicBezTo>
                    <a:pt x="10668" y="1265555"/>
                    <a:pt x="67437" y="1322324"/>
                    <a:pt x="137541" y="1322324"/>
                  </a:cubicBezTo>
                  <a:lnTo>
                    <a:pt x="1691259" y="1322324"/>
                  </a:lnTo>
                  <a:cubicBezTo>
                    <a:pt x="1761364" y="1322324"/>
                    <a:pt x="1818132" y="1265555"/>
                    <a:pt x="1818132" y="1195451"/>
                  </a:cubicBezTo>
                  <a:lnTo>
                    <a:pt x="1818132" y="145923"/>
                  </a:lnTo>
                  <a:cubicBezTo>
                    <a:pt x="1818132" y="144653"/>
                    <a:pt x="1818514" y="143510"/>
                    <a:pt x="1819275" y="142621"/>
                  </a:cubicBezTo>
                  <a:lnTo>
                    <a:pt x="1930908" y="2032"/>
                  </a:lnTo>
                  <a:lnTo>
                    <a:pt x="1935099" y="5334"/>
                  </a:lnTo>
                  <a:lnTo>
                    <a:pt x="1935099" y="10668"/>
                  </a:lnTo>
                  <a:lnTo>
                    <a:pt x="1707769" y="10668"/>
                  </a:lnTo>
                  <a:lnTo>
                    <a:pt x="1707769" y="5334"/>
                  </a:lnTo>
                  <a:lnTo>
                    <a:pt x="1713103" y="5334"/>
                  </a:lnTo>
                  <a:lnTo>
                    <a:pt x="1713103" y="6350"/>
                  </a:lnTo>
                  <a:cubicBezTo>
                    <a:pt x="1713103" y="7874"/>
                    <a:pt x="1712468" y="9398"/>
                    <a:pt x="1711325" y="10414"/>
                  </a:cubicBezTo>
                  <a:cubicBezTo>
                    <a:pt x="1710182" y="11430"/>
                    <a:pt x="1708658" y="11938"/>
                    <a:pt x="1707134" y="11684"/>
                  </a:cubicBezTo>
                  <a:cubicBezTo>
                    <a:pt x="1701928" y="11049"/>
                    <a:pt x="1696593" y="10668"/>
                    <a:pt x="1691259" y="10668"/>
                  </a:cubicBezTo>
                  <a:close/>
                </a:path>
              </a:pathLst>
            </a:custGeom>
            <a:solidFill>
              <a:srgbClr val="6D912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971542" y="1894586"/>
              <a:ext cx="1929766" cy="1322324"/>
            </a:xfrm>
            <a:custGeom>
              <a:avLst/>
              <a:gdLst/>
              <a:ahLst/>
              <a:cxnLst/>
              <a:rect r="r" b="b" t="t" l="l"/>
              <a:pathLst>
                <a:path h="1322324" w="1929766">
                  <a:moveTo>
                    <a:pt x="1685925" y="1322323"/>
                  </a:moveTo>
                  <a:cubicBezTo>
                    <a:pt x="1691513" y="1322323"/>
                    <a:pt x="1697101" y="1321942"/>
                    <a:pt x="1702435" y="1321307"/>
                  </a:cubicBezTo>
                  <a:lnTo>
                    <a:pt x="1702435" y="1322323"/>
                  </a:lnTo>
                  <a:lnTo>
                    <a:pt x="1929765" y="1322323"/>
                  </a:lnTo>
                  <a:lnTo>
                    <a:pt x="1818132" y="1181735"/>
                  </a:lnTo>
                  <a:lnTo>
                    <a:pt x="1818132" y="132207"/>
                  </a:lnTo>
                  <a:cubicBezTo>
                    <a:pt x="1818132" y="59182"/>
                    <a:pt x="1758950" y="0"/>
                    <a:pt x="1685925" y="0"/>
                  </a:cubicBezTo>
                  <a:lnTo>
                    <a:pt x="132207" y="0"/>
                  </a:lnTo>
                  <a:cubicBezTo>
                    <a:pt x="59182" y="0"/>
                    <a:pt x="0" y="59182"/>
                    <a:pt x="0" y="132207"/>
                  </a:cubicBezTo>
                  <a:lnTo>
                    <a:pt x="0" y="1189989"/>
                  </a:lnTo>
                  <a:cubicBezTo>
                    <a:pt x="0" y="1263014"/>
                    <a:pt x="59182" y="1322196"/>
                    <a:pt x="132207" y="1322196"/>
                  </a:cubicBezTo>
                  <a:lnTo>
                    <a:pt x="1685925" y="1322196"/>
                  </a:lnTo>
                </a:path>
              </a:pathLst>
            </a:custGeom>
            <a:solidFill>
              <a:srgbClr val="65900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966208" y="1889252"/>
              <a:ext cx="1940452" cy="1333119"/>
            </a:xfrm>
            <a:custGeom>
              <a:avLst/>
              <a:gdLst/>
              <a:ahLst/>
              <a:cxnLst/>
              <a:rect r="r" b="b" t="t" l="l"/>
              <a:pathLst>
                <a:path h="1333119" w="1940452">
                  <a:moveTo>
                    <a:pt x="1691259" y="1322323"/>
                  </a:moveTo>
                  <a:cubicBezTo>
                    <a:pt x="1696593" y="1322323"/>
                    <a:pt x="1701928" y="1321942"/>
                    <a:pt x="1707134" y="1321307"/>
                  </a:cubicBezTo>
                  <a:cubicBezTo>
                    <a:pt x="1708658" y="1321053"/>
                    <a:pt x="1710182" y="1321562"/>
                    <a:pt x="1711325" y="1322578"/>
                  </a:cubicBezTo>
                  <a:cubicBezTo>
                    <a:pt x="1712468" y="1323594"/>
                    <a:pt x="1713103" y="1325117"/>
                    <a:pt x="1713103" y="1326641"/>
                  </a:cubicBezTo>
                  <a:lnTo>
                    <a:pt x="1713103" y="1327657"/>
                  </a:lnTo>
                  <a:lnTo>
                    <a:pt x="1707769" y="1327657"/>
                  </a:lnTo>
                  <a:lnTo>
                    <a:pt x="1707769" y="1322323"/>
                  </a:lnTo>
                  <a:lnTo>
                    <a:pt x="1935099" y="1322323"/>
                  </a:lnTo>
                  <a:lnTo>
                    <a:pt x="1935099" y="1327657"/>
                  </a:lnTo>
                  <a:lnTo>
                    <a:pt x="1930908" y="1330959"/>
                  </a:lnTo>
                  <a:lnTo>
                    <a:pt x="1819275" y="1190370"/>
                  </a:lnTo>
                  <a:cubicBezTo>
                    <a:pt x="1818514" y="1189482"/>
                    <a:pt x="1818132" y="1188212"/>
                    <a:pt x="1818132" y="1187069"/>
                  </a:cubicBezTo>
                  <a:lnTo>
                    <a:pt x="1818132" y="137541"/>
                  </a:lnTo>
                  <a:lnTo>
                    <a:pt x="1823466" y="137541"/>
                  </a:lnTo>
                  <a:lnTo>
                    <a:pt x="1818132" y="137541"/>
                  </a:lnTo>
                  <a:cubicBezTo>
                    <a:pt x="1818132" y="67437"/>
                    <a:pt x="1761364" y="10667"/>
                    <a:pt x="1691259" y="10667"/>
                  </a:cubicBezTo>
                  <a:lnTo>
                    <a:pt x="1691259" y="5334"/>
                  </a:lnTo>
                  <a:lnTo>
                    <a:pt x="1691259" y="10667"/>
                  </a:lnTo>
                  <a:lnTo>
                    <a:pt x="137541" y="10667"/>
                  </a:lnTo>
                  <a:lnTo>
                    <a:pt x="137541" y="5334"/>
                  </a:lnTo>
                  <a:lnTo>
                    <a:pt x="137541" y="10667"/>
                  </a:lnTo>
                  <a:cubicBezTo>
                    <a:pt x="67437" y="10667"/>
                    <a:pt x="10668" y="67437"/>
                    <a:pt x="10668" y="137541"/>
                  </a:cubicBezTo>
                  <a:lnTo>
                    <a:pt x="5334" y="137541"/>
                  </a:lnTo>
                  <a:lnTo>
                    <a:pt x="10668" y="137541"/>
                  </a:lnTo>
                  <a:lnTo>
                    <a:pt x="10668" y="1195323"/>
                  </a:lnTo>
                  <a:lnTo>
                    <a:pt x="5334" y="1195323"/>
                  </a:lnTo>
                  <a:lnTo>
                    <a:pt x="10668" y="1195323"/>
                  </a:lnTo>
                  <a:cubicBezTo>
                    <a:pt x="10668" y="1265427"/>
                    <a:pt x="67437" y="1322196"/>
                    <a:pt x="137541" y="1322196"/>
                  </a:cubicBezTo>
                  <a:lnTo>
                    <a:pt x="137541" y="1327530"/>
                  </a:lnTo>
                  <a:lnTo>
                    <a:pt x="137541" y="1322196"/>
                  </a:lnTo>
                  <a:lnTo>
                    <a:pt x="1691259" y="1322196"/>
                  </a:lnTo>
                  <a:lnTo>
                    <a:pt x="1691259" y="1327530"/>
                  </a:lnTo>
                  <a:lnTo>
                    <a:pt x="1691259" y="1322196"/>
                  </a:lnTo>
                  <a:moveTo>
                    <a:pt x="1691259" y="1332864"/>
                  </a:moveTo>
                  <a:lnTo>
                    <a:pt x="137541" y="1332864"/>
                  </a:lnTo>
                  <a:cubicBezTo>
                    <a:pt x="61595" y="1332864"/>
                    <a:pt x="0" y="1271269"/>
                    <a:pt x="0" y="1195323"/>
                  </a:cubicBezTo>
                  <a:lnTo>
                    <a:pt x="0" y="137541"/>
                  </a:lnTo>
                  <a:cubicBezTo>
                    <a:pt x="0" y="61595"/>
                    <a:pt x="61595" y="0"/>
                    <a:pt x="137541" y="0"/>
                  </a:cubicBezTo>
                  <a:lnTo>
                    <a:pt x="1691259" y="0"/>
                  </a:lnTo>
                  <a:cubicBezTo>
                    <a:pt x="1767205" y="0"/>
                    <a:pt x="1828800" y="61595"/>
                    <a:pt x="1828800" y="137541"/>
                  </a:cubicBezTo>
                  <a:lnTo>
                    <a:pt x="1828800" y="1187068"/>
                  </a:lnTo>
                  <a:lnTo>
                    <a:pt x="1823466" y="1187068"/>
                  </a:lnTo>
                  <a:lnTo>
                    <a:pt x="1827657" y="1183766"/>
                  </a:lnTo>
                  <a:lnTo>
                    <a:pt x="1939291" y="1324355"/>
                  </a:lnTo>
                  <a:cubicBezTo>
                    <a:pt x="1940560" y="1326006"/>
                    <a:pt x="1940815" y="1328165"/>
                    <a:pt x="1939925" y="1330070"/>
                  </a:cubicBezTo>
                  <a:cubicBezTo>
                    <a:pt x="1939036" y="1331975"/>
                    <a:pt x="1937131" y="1333118"/>
                    <a:pt x="1935099" y="1333118"/>
                  </a:cubicBezTo>
                  <a:lnTo>
                    <a:pt x="1707769" y="1333118"/>
                  </a:lnTo>
                  <a:cubicBezTo>
                    <a:pt x="1704848" y="1333118"/>
                    <a:pt x="1702435" y="1330705"/>
                    <a:pt x="1702435" y="1327784"/>
                  </a:cubicBezTo>
                  <a:lnTo>
                    <a:pt x="1702435" y="1326768"/>
                  </a:lnTo>
                  <a:lnTo>
                    <a:pt x="1707769" y="1326768"/>
                  </a:lnTo>
                  <a:lnTo>
                    <a:pt x="1708404" y="1332102"/>
                  </a:lnTo>
                  <a:cubicBezTo>
                    <a:pt x="1702816" y="1332864"/>
                    <a:pt x="1696974" y="1333118"/>
                    <a:pt x="1691132" y="1333118"/>
                  </a:cubicBezTo>
                  <a:close/>
                </a:path>
              </a:pathLst>
            </a:custGeom>
            <a:solidFill>
              <a:srgbClr val="6D9121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409305" y="1894586"/>
              <a:ext cx="1929765" cy="1322324"/>
            </a:xfrm>
            <a:custGeom>
              <a:avLst/>
              <a:gdLst/>
              <a:ahLst/>
              <a:cxnLst/>
              <a:rect r="r" b="b" t="t" l="l"/>
              <a:pathLst>
                <a:path h="1322324" w="1929765">
                  <a:moveTo>
                    <a:pt x="243840" y="1322323"/>
                  </a:moveTo>
                  <a:cubicBezTo>
                    <a:pt x="238252" y="1322323"/>
                    <a:pt x="232664" y="1321942"/>
                    <a:pt x="227330" y="1321307"/>
                  </a:cubicBezTo>
                  <a:lnTo>
                    <a:pt x="227330" y="1322323"/>
                  </a:lnTo>
                  <a:lnTo>
                    <a:pt x="0" y="1322323"/>
                  </a:lnTo>
                  <a:lnTo>
                    <a:pt x="111506" y="1181735"/>
                  </a:lnTo>
                  <a:lnTo>
                    <a:pt x="111506" y="132207"/>
                  </a:lnTo>
                  <a:cubicBezTo>
                    <a:pt x="111506" y="59182"/>
                    <a:pt x="170688" y="0"/>
                    <a:pt x="243713" y="0"/>
                  </a:cubicBezTo>
                  <a:lnTo>
                    <a:pt x="1797558" y="0"/>
                  </a:lnTo>
                  <a:cubicBezTo>
                    <a:pt x="1870583" y="0"/>
                    <a:pt x="1929765" y="59182"/>
                    <a:pt x="1929765" y="132207"/>
                  </a:cubicBezTo>
                  <a:lnTo>
                    <a:pt x="1929765" y="1189989"/>
                  </a:lnTo>
                  <a:cubicBezTo>
                    <a:pt x="1929765" y="1263014"/>
                    <a:pt x="1870583" y="1322196"/>
                    <a:pt x="1797558" y="1322196"/>
                  </a:cubicBezTo>
                  <a:lnTo>
                    <a:pt x="243840" y="1322196"/>
                  </a:lnTo>
                </a:path>
              </a:pathLst>
            </a:custGeom>
            <a:solidFill>
              <a:srgbClr val="659009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403952" y="1889252"/>
              <a:ext cx="1940452" cy="1332992"/>
            </a:xfrm>
            <a:custGeom>
              <a:avLst/>
              <a:gdLst/>
              <a:ahLst/>
              <a:cxnLst/>
              <a:rect r="r" b="b" t="t" l="l"/>
              <a:pathLst>
                <a:path h="1332992" w="1940452">
                  <a:moveTo>
                    <a:pt x="249193" y="1332991"/>
                  </a:moveTo>
                  <a:cubicBezTo>
                    <a:pt x="243350" y="1332991"/>
                    <a:pt x="237636" y="1332610"/>
                    <a:pt x="232048" y="1331975"/>
                  </a:cubicBezTo>
                  <a:lnTo>
                    <a:pt x="232683" y="1326641"/>
                  </a:lnTo>
                  <a:lnTo>
                    <a:pt x="238017" y="1326641"/>
                  </a:lnTo>
                  <a:lnTo>
                    <a:pt x="238017" y="1327657"/>
                  </a:lnTo>
                  <a:cubicBezTo>
                    <a:pt x="238017" y="1330578"/>
                    <a:pt x="235604" y="1332991"/>
                    <a:pt x="232683" y="1332991"/>
                  </a:cubicBezTo>
                  <a:lnTo>
                    <a:pt x="5353" y="1332991"/>
                  </a:lnTo>
                  <a:cubicBezTo>
                    <a:pt x="3321" y="1332991"/>
                    <a:pt x="1416" y="1331848"/>
                    <a:pt x="526" y="1329943"/>
                  </a:cubicBezTo>
                  <a:cubicBezTo>
                    <a:pt x="-363" y="1328038"/>
                    <a:pt x="-108" y="1325879"/>
                    <a:pt x="1161" y="1324228"/>
                  </a:cubicBezTo>
                  <a:lnTo>
                    <a:pt x="112668" y="1183640"/>
                  </a:lnTo>
                  <a:lnTo>
                    <a:pt x="116859" y="1186941"/>
                  </a:lnTo>
                  <a:lnTo>
                    <a:pt x="111524" y="1186941"/>
                  </a:lnTo>
                  <a:lnTo>
                    <a:pt x="111524" y="137541"/>
                  </a:lnTo>
                  <a:lnTo>
                    <a:pt x="116859" y="137541"/>
                  </a:lnTo>
                  <a:lnTo>
                    <a:pt x="111524" y="137541"/>
                  </a:lnTo>
                  <a:cubicBezTo>
                    <a:pt x="111524" y="61595"/>
                    <a:pt x="173120" y="0"/>
                    <a:pt x="249066" y="0"/>
                  </a:cubicBezTo>
                  <a:lnTo>
                    <a:pt x="249066" y="5334"/>
                  </a:lnTo>
                  <a:lnTo>
                    <a:pt x="249066" y="0"/>
                  </a:lnTo>
                  <a:lnTo>
                    <a:pt x="1802911" y="0"/>
                  </a:lnTo>
                  <a:lnTo>
                    <a:pt x="1802911" y="5334"/>
                  </a:lnTo>
                  <a:lnTo>
                    <a:pt x="1802911" y="0"/>
                  </a:lnTo>
                  <a:cubicBezTo>
                    <a:pt x="1878857" y="0"/>
                    <a:pt x="1940452" y="61595"/>
                    <a:pt x="1940452" y="137541"/>
                  </a:cubicBezTo>
                  <a:lnTo>
                    <a:pt x="1935118" y="137541"/>
                  </a:lnTo>
                  <a:lnTo>
                    <a:pt x="1940452" y="137541"/>
                  </a:lnTo>
                  <a:lnTo>
                    <a:pt x="1940452" y="1195323"/>
                  </a:lnTo>
                  <a:lnTo>
                    <a:pt x="1935118" y="1195323"/>
                  </a:lnTo>
                  <a:lnTo>
                    <a:pt x="1940452" y="1195323"/>
                  </a:lnTo>
                  <a:cubicBezTo>
                    <a:pt x="1940452" y="1271269"/>
                    <a:pt x="1878857" y="1332864"/>
                    <a:pt x="1802911" y="1332864"/>
                  </a:cubicBezTo>
                  <a:lnTo>
                    <a:pt x="1802911" y="1327530"/>
                  </a:lnTo>
                  <a:lnTo>
                    <a:pt x="1802911" y="1332864"/>
                  </a:lnTo>
                  <a:lnTo>
                    <a:pt x="249193" y="1332864"/>
                  </a:lnTo>
                  <a:lnTo>
                    <a:pt x="249193" y="1327530"/>
                  </a:lnTo>
                  <a:lnTo>
                    <a:pt x="249193" y="1332864"/>
                  </a:lnTo>
                  <a:moveTo>
                    <a:pt x="249193" y="1322196"/>
                  </a:moveTo>
                  <a:lnTo>
                    <a:pt x="1802911" y="1322196"/>
                  </a:lnTo>
                  <a:cubicBezTo>
                    <a:pt x="1873015" y="1322196"/>
                    <a:pt x="1929784" y="1265427"/>
                    <a:pt x="1929784" y="1195323"/>
                  </a:cubicBezTo>
                  <a:lnTo>
                    <a:pt x="1929784" y="137541"/>
                  </a:lnTo>
                  <a:cubicBezTo>
                    <a:pt x="1929784" y="67437"/>
                    <a:pt x="1873015" y="10667"/>
                    <a:pt x="1802911" y="10667"/>
                  </a:cubicBezTo>
                  <a:lnTo>
                    <a:pt x="249193" y="10667"/>
                  </a:lnTo>
                  <a:cubicBezTo>
                    <a:pt x="179088" y="10667"/>
                    <a:pt x="122320" y="67437"/>
                    <a:pt x="122320" y="137541"/>
                  </a:cubicBezTo>
                  <a:lnTo>
                    <a:pt x="122320" y="1187068"/>
                  </a:lnTo>
                  <a:cubicBezTo>
                    <a:pt x="122320" y="1188338"/>
                    <a:pt x="121938" y="1189481"/>
                    <a:pt x="121176" y="1190370"/>
                  </a:cubicBezTo>
                  <a:lnTo>
                    <a:pt x="9671" y="1330959"/>
                  </a:lnTo>
                  <a:lnTo>
                    <a:pt x="5480" y="1327657"/>
                  </a:lnTo>
                  <a:lnTo>
                    <a:pt x="5480" y="1322323"/>
                  </a:lnTo>
                  <a:lnTo>
                    <a:pt x="232810" y="1322323"/>
                  </a:lnTo>
                  <a:lnTo>
                    <a:pt x="232810" y="1327657"/>
                  </a:lnTo>
                  <a:lnTo>
                    <a:pt x="227475" y="1327657"/>
                  </a:lnTo>
                  <a:lnTo>
                    <a:pt x="227475" y="1326641"/>
                  </a:lnTo>
                  <a:cubicBezTo>
                    <a:pt x="227475" y="1325117"/>
                    <a:pt x="228111" y="1323593"/>
                    <a:pt x="229254" y="1322577"/>
                  </a:cubicBezTo>
                  <a:cubicBezTo>
                    <a:pt x="230397" y="1321561"/>
                    <a:pt x="231921" y="1321053"/>
                    <a:pt x="233445" y="1321307"/>
                  </a:cubicBezTo>
                  <a:cubicBezTo>
                    <a:pt x="238651" y="1321942"/>
                    <a:pt x="243859" y="1322323"/>
                    <a:pt x="249320" y="1322323"/>
                  </a:cubicBezTo>
                  <a:close/>
                </a:path>
              </a:pathLst>
            </a:custGeom>
            <a:solidFill>
              <a:srgbClr val="6D912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600075" y="1442180"/>
            <a:ext cx="666550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b="true" sz="3375" spc="6">
                <a:solidFill>
                  <a:srgbClr val="F0F4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 Architecture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0075" y="2771508"/>
            <a:ext cx="3205353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The Double Machine Learning framework employs two distinct models: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4214" y="3362058"/>
            <a:ext cx="2627433" cy="1805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Treatment Model: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Predicts </a:t>
            </a:r>
          </a:p>
          <a:p>
            <a:pPr algn="l">
              <a:lnSpc>
                <a:spcPts val="9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treatment status (micro-irrigation </a:t>
            </a:r>
          </a:p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adoption) based on covariates.</a:t>
            </a:r>
          </a:p>
          <a:p>
            <a:pPr algn="l">
              <a:lnSpc>
                <a:spcPts val="1875"/>
              </a:lnSpc>
            </a:pPr>
            <a:r>
              <a:rPr lang="en-US" b="true" sz="1350" spc="2">
                <a:solidFill>
                  <a:srgbClr val="D7E5D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 Model:</a:t>
            </a: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 Predicts </a:t>
            </a:r>
          </a:p>
          <a:p>
            <a:pPr algn="l">
              <a:lnSpc>
                <a:spcPts val="24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groundwater depletion based on </a:t>
            </a:r>
          </a:p>
          <a:p>
            <a:pPr algn="l">
              <a:lnSpc>
                <a:spcPts val="172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covariates.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0075" y="5219433"/>
            <a:ext cx="3233747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Cross-fitting ensures unbiased estimation </a:t>
            </a:r>
          </a:p>
          <a:p>
            <a:pPr algn="l">
              <a:lnSpc>
                <a:spcPts val="974"/>
              </a:lnSpc>
            </a:pPr>
            <a:r>
              <a:rPr lang="en-US" sz="1350" spc="2">
                <a:solidFill>
                  <a:srgbClr val="D7E5D8"/>
                </a:solidFill>
                <a:latin typeface="Open Sans"/>
                <a:ea typeface="Open Sans"/>
                <a:cs typeface="Open Sans"/>
                <a:sym typeface="Open Sans"/>
              </a:rPr>
              <a:t>by preventing overfitting.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21046" y="2777223"/>
            <a:ext cx="980361" cy="46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1"/>
              </a:lnSpc>
            </a:pPr>
            <a:r>
              <a:rPr lang="en-US" b="true" sz="1464" spc="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Cross- Fitting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14454" y="3195295"/>
            <a:ext cx="31861" cy="29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77155" y="4785398"/>
            <a:ext cx="1128932" cy="23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464" spc="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Causal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085912" y="5016789"/>
            <a:ext cx="1460202" cy="94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b="true" sz="1464" spc="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Effect Estimatio n</a:t>
            </a:r>
          </a:p>
          <a:p>
            <a:pPr algn="ctr">
              <a:lnSpc>
                <a:spcPts val="1496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Combines model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10891" y="5666251"/>
            <a:ext cx="31861" cy="29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34616" y="3595364"/>
            <a:ext cx="905437" cy="23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b="true" sz="1464" spc="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Doubl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112803" y="3826754"/>
            <a:ext cx="950014" cy="115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b="true" sz="1464" spc="2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Machi ne Learni 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37651" y="5016789"/>
            <a:ext cx="1502978" cy="46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b="true" sz="1464" spc="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 Model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28236" y="5434860"/>
            <a:ext cx="31861" cy="29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11962" y="2777223"/>
            <a:ext cx="1516151" cy="46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b="true" sz="1464" spc="2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Treatmen t Model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75959" y="3195285"/>
            <a:ext cx="31861" cy="29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510994" y="5970622"/>
            <a:ext cx="592960" cy="17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residuals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09543" y="3309595"/>
            <a:ext cx="1411843" cy="17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Overarching sample-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271983" y="3499666"/>
            <a:ext cx="1080611" cy="17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splitting process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89740" y="5549160"/>
            <a:ext cx="1541869" cy="17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Predicts outcome from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04630" y="5739232"/>
            <a:ext cx="695525" cy="17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covariates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737473" y="3309585"/>
            <a:ext cx="1260110" cy="17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Predicts treatment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840257" y="3499666"/>
            <a:ext cx="1050417" cy="178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171" spc="2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from covariates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DAG_6UIoqKs</dc:identifier>
  <dcterms:modified xsi:type="dcterms:W3CDTF">2011-08-01T06:04:30Z</dcterms:modified>
  <cp:revision>1</cp:revision>
  <dc:title>Causal-Impact-of-Micro-Irrigation-on-Groundwater-Depletion-in-India (1).pdf</dc:title>
</cp:coreProperties>
</file>